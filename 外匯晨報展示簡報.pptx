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9"/>
  </p:notesMasterIdLst>
  <p:sldIdLst>
    <p:sldId id="262" r:id="rId2"/>
    <p:sldId id="256" r:id="rId3"/>
    <p:sldId id="257" r:id="rId4"/>
    <p:sldId id="258" r:id="rId5"/>
    <p:sldId id="259" r:id="rId6"/>
    <p:sldId id="263" r:id="rId7"/>
    <p:sldId id="260" r:id="rId8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81750" autoAdjust="0"/>
  </p:normalViewPr>
  <p:slideViewPr>
    <p:cSldViewPr snapToGrid="0" snapToObjects="1">
      <p:cViewPr>
        <p:scale>
          <a:sx n="100" d="100"/>
          <a:sy n="100" d="100"/>
        </p:scale>
        <p:origin x="954" y="13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73718101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268E1E-0E44-426D-905E-8AD9B19D2182}" type="datetimeFigureOut">
              <a:rPr lang="cs-CZ" smtClean="0"/>
              <a:t>14.08.2026</a:t>
            </a:fld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先看大圖：黃金2026年上半年從高點回落約29%，幾乎全部原因是市場從定價降息翻轉成定價升息，實質利率上行構成核心逆風。但關鍵在於——7月開始，利率繼續創高，金價卻不跟跌了，在四千美元附近展現明顯韌性。UBS把這輪定性為rates-driven compression，也就是利率驅動的估值壓縮，不是需求消失。這很重要，因為它意味著底層支撐還在。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1B2431-D351-4C6E-A3CF-9DFAC0E3E050}" type="slidenum">
              <a:rPr lang="cs-CZ" smtClean="0"/>
              <a:t>1</a:t>
            </a:fld>
            <a:endParaRPr lang="cs-CZ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73271713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>
  <p:cSld name="Title Only"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22838181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3" Type="http://schemas.openxmlformats.org/officeDocument/2006/relationships/image" Target="../media/image3.png"/><Relationship Id="rId7" Type="http://schemas.openxmlformats.org/officeDocument/2006/relationships/image" Target="../media/image7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.png"/><Relationship Id="rId3" Type="http://schemas.openxmlformats.org/officeDocument/2006/relationships/image" Target="../media/image9.png"/><Relationship Id="rId7" Type="http://schemas.openxmlformats.org/officeDocument/2006/relationships/image" Target="../media/image1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2.png"/><Relationship Id="rId5" Type="http://schemas.openxmlformats.org/officeDocument/2006/relationships/image" Target="../media/image11.png"/><Relationship Id="rId4" Type="http://schemas.openxmlformats.org/officeDocument/2006/relationships/image" Target="../media/image10.png"/><Relationship Id="rId9" Type="http://schemas.openxmlformats.org/officeDocument/2006/relationships/image" Target="../media/image15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7" Type="http://schemas.openxmlformats.org/officeDocument/2006/relationships/image" Target="../media/image19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0.png"/><Relationship Id="rId5" Type="http://schemas.openxmlformats.org/officeDocument/2006/relationships/image" Target="../media/image18.png"/><Relationship Id="rId4" Type="http://schemas.openxmlformats.org/officeDocument/2006/relationships/image" Target="../media/image17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6" Type="http://schemas.openxmlformats.org/officeDocument/2006/relationships/hyperlink" Target="&#23637;&#31034;_&#22806;&#21295;&#26216;&#22577;_20260814.html" TargetMode="External"/><Relationship Id="rId5" Type="http://schemas.openxmlformats.org/officeDocument/2006/relationships/image" Target="../media/image22.png"/><Relationship Id="rId4" Type="http://schemas.openxmlformats.org/officeDocument/2006/relationships/image" Target="../media/image21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jpe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0.jpe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27.png"/><Relationship Id="rId3" Type="http://schemas.openxmlformats.org/officeDocument/2006/relationships/image" Target="../media/image24.png"/><Relationship Id="rId7" Type="http://schemas.openxmlformats.org/officeDocument/2006/relationships/image" Target="../media/image26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3.png"/><Relationship Id="rId5" Type="http://schemas.openxmlformats.org/officeDocument/2006/relationships/image" Target="../media/image25.png"/><Relationship Id="rId10" Type="http://schemas.openxmlformats.org/officeDocument/2006/relationships/image" Target="../media/image5.png"/><Relationship Id="rId4" Type="http://schemas.openxmlformats.org/officeDocument/2006/relationships/image" Target="../media/image3.png"/><Relationship Id="rId9" Type="http://schemas.openxmlformats.org/officeDocument/2006/relationships/image" Target="../media/image15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8" name="Picture 4" descr="Robot Wallpapers (56 images) - WallpaperCat">
            <a:extLst>
              <a:ext uri="{FF2B5EF4-FFF2-40B4-BE49-F238E27FC236}">
                <a16:creationId xmlns:a16="http://schemas.microsoft.com/office/drawing/2014/main" id="{26677638-87B8-451E-B95A-D51E54DF029F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1295"/>
          <a:stretch/>
        </p:blipFill>
        <p:spPr bwMode="auto">
          <a:xfrm>
            <a:off x="1" y="0"/>
            <a:ext cx="12192000" cy="694275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AutoShape 4"/>
          <p:cNvSpPr/>
          <p:nvPr/>
        </p:nvSpPr>
        <p:spPr>
          <a:xfrm>
            <a:off x="-1" y="0"/>
            <a:ext cx="12188952" cy="6942755"/>
          </a:xfrm>
          <a:prstGeom prst="rect">
            <a:avLst/>
          </a:prstGeom>
          <a:gradFill flip="none" rotWithShape="1">
            <a:gsLst>
              <a:gs pos="0">
                <a:schemeClr val="accent1">
                  <a:lumMod val="0"/>
                  <a:lumOff val="100000"/>
                </a:schemeClr>
              </a:gs>
              <a:gs pos="55000">
                <a:schemeClr val="tx2">
                  <a:lumMod val="75000"/>
                  <a:alpha val="68000"/>
                </a:schemeClr>
              </a:gs>
              <a:gs pos="100000">
                <a:schemeClr val="accent1">
                  <a:lumMod val="100000"/>
                  <a:alpha val="84000"/>
                </a:schemeClr>
              </a:gs>
            </a:gsLst>
            <a:path path="circle">
              <a:fillToRect l="50000" t="-80000" r="50000" b="180000"/>
            </a:path>
            <a:tileRect/>
          </a:gradFill>
          <a:ln>
            <a:headEnd type="none"/>
            <a:tailEnd type="none"/>
          </a:ln>
        </p:spPr>
        <p:txBody>
          <a:bodyPr/>
          <a:lstStyle/>
          <a:p>
            <a:endParaRPr lang="zh-TW" altLang="en-US" dirty="0"/>
          </a:p>
        </p:txBody>
      </p:sp>
      <p:sp>
        <p:nvSpPr>
          <p:cNvPr id="5" name="TextBox 5"/>
          <p:cNvSpPr txBox="1"/>
          <p:nvPr/>
        </p:nvSpPr>
        <p:spPr>
          <a:xfrm>
            <a:off x="1394841" y="2766120"/>
            <a:ext cx="9399271" cy="754261"/>
          </a:xfrm>
          <a:prstGeom prst="rect">
            <a:avLst/>
          </a:prstGeom>
          <a:ln>
            <a:headEnd type="none"/>
            <a:tailEnd type="none"/>
          </a:ln>
        </p:spPr>
        <p:txBody>
          <a:bodyPr vert="horz" wrap="none" lIns="0" tIns="0" rIns="0" bIns="0" rtlCol="0" anchor="t" anchorCtr="1"/>
          <a:lstStyle/>
          <a:p>
            <a:pPr algn="ctr">
              <a:defRPr/>
            </a:pPr>
            <a:r>
              <a:rPr lang="en-US" altLang="zh-TW" sz="6000" b="1" i="0" strike="noStrike" dirty="0">
                <a:ln/>
                <a:solidFill>
                  <a:schemeClr val="accent4">
                    <a:lumMod val="40000"/>
                    <a:lumOff val="60000"/>
                  </a:schemeClr>
                </a:solidFill>
                <a:latin typeface="+mn-ea"/>
                <a:cs typeface="Alibaba PuHuiTi 3.0 55 Regular"/>
              </a:rPr>
              <a:t>AI</a:t>
            </a:r>
            <a:r>
              <a:rPr lang="zh-TW" altLang="en-US" sz="6000" b="1" i="0" strike="noStrike" dirty="0">
                <a:ln/>
                <a:solidFill>
                  <a:schemeClr val="accent4">
                    <a:lumMod val="40000"/>
                    <a:lumOff val="60000"/>
                  </a:schemeClr>
                </a:solidFill>
                <a:latin typeface="+mn-ea"/>
                <a:cs typeface="Alibaba PuHuiTi 3.0 55 Regular"/>
              </a:rPr>
              <a:t>自動外匯晨報</a:t>
            </a:r>
            <a:endParaRPr lang="en-US" sz="1200" dirty="0">
              <a:solidFill>
                <a:schemeClr val="accent4">
                  <a:lumMod val="40000"/>
                  <a:lumOff val="60000"/>
                </a:schemeClr>
              </a:solidFill>
              <a:latin typeface="+mn-ea"/>
            </a:endParaRPr>
          </a:p>
        </p:txBody>
      </p:sp>
      <p:pic>
        <p:nvPicPr>
          <p:cNvPr id="1026" name="Picture 2" descr="Richart - Open Account">
            <a:extLst>
              <a:ext uri="{FF2B5EF4-FFF2-40B4-BE49-F238E27FC236}">
                <a16:creationId xmlns:a16="http://schemas.microsoft.com/office/drawing/2014/main" id="{5553A90E-6AB4-4293-9291-B7351123301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617210" y="4258841"/>
            <a:ext cx="3287489" cy="251440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Text 21">
            <a:extLst>
              <a:ext uri="{FF2B5EF4-FFF2-40B4-BE49-F238E27FC236}">
                <a16:creationId xmlns:a16="http://schemas.microsoft.com/office/drawing/2014/main" id="{CEB0DC89-D9CA-4ABA-8F33-3C5E340B33FC}"/>
              </a:ext>
            </a:extLst>
          </p:cNvPr>
          <p:cNvSpPr/>
          <p:nvPr/>
        </p:nvSpPr>
        <p:spPr>
          <a:xfrm>
            <a:off x="3761994" y="6398931"/>
            <a:ext cx="5029581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zh-TW" altLang="en-US" sz="2000" b="1" dirty="0">
                <a:solidFill>
                  <a:schemeClr val="bg1"/>
                </a:solidFill>
                <a:latin typeface="+mn-ea"/>
                <a:cs typeface="Calibri" pitchFamily="34" charset="-120"/>
              </a:rPr>
              <a:t>台新國際商業銀行 金融交易處 外匯交易部</a:t>
            </a:r>
            <a:endParaRPr lang="en-US" sz="2000" b="1" dirty="0">
              <a:solidFill>
                <a:schemeClr val="bg1"/>
              </a:solidFill>
              <a:latin typeface="+mn-ea"/>
            </a:endParaRPr>
          </a:p>
        </p:txBody>
      </p:sp>
      <p:sp>
        <p:nvSpPr>
          <p:cNvPr id="9" name="Text 21">
            <a:extLst>
              <a:ext uri="{FF2B5EF4-FFF2-40B4-BE49-F238E27FC236}">
                <a16:creationId xmlns:a16="http://schemas.microsoft.com/office/drawing/2014/main" id="{DF94AB9A-61BB-489E-A910-BBB4BA4DA95C}"/>
              </a:ext>
            </a:extLst>
          </p:cNvPr>
          <p:cNvSpPr/>
          <p:nvPr/>
        </p:nvSpPr>
        <p:spPr>
          <a:xfrm>
            <a:off x="4056886" y="3817484"/>
            <a:ext cx="4075179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altLang="zh-TW" sz="2000" b="1" dirty="0">
                <a:solidFill>
                  <a:schemeClr val="bg1"/>
                </a:solidFill>
                <a:latin typeface="+mn-ea"/>
                <a:cs typeface="Calibri" pitchFamily="34" charset="-120"/>
              </a:rPr>
              <a:t>AI</a:t>
            </a:r>
            <a:r>
              <a:rPr lang="zh-TW" altLang="en-US" sz="2000" b="1" dirty="0">
                <a:solidFill>
                  <a:schemeClr val="bg1"/>
                </a:solidFill>
                <a:latin typeface="+mn-ea"/>
                <a:cs typeface="Calibri" pitchFamily="34" charset="-120"/>
              </a:rPr>
              <a:t>工作流程完全自動化的作業展示</a:t>
            </a:r>
            <a:endParaRPr lang="en-US" sz="2000" b="1" dirty="0">
              <a:solidFill>
                <a:schemeClr val="bg1"/>
              </a:solidFill>
              <a:latin typeface="+mn-ea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607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 err="1">
                <a:solidFill>
                  <a:srgbClr val="1E2761"/>
                </a:solidFill>
                <a:latin typeface="+mn-ea"/>
                <a:cs typeface="Cambria" pitchFamily="34" charset="-120"/>
              </a:rPr>
              <a:t>模型到系統</a:t>
            </a:r>
            <a:r>
              <a:rPr lang="zh-TW" altLang="en-US" sz="3600" b="1" dirty="0">
                <a:solidFill>
                  <a:srgbClr val="1E2761"/>
                </a:solidFill>
                <a:latin typeface="+mn-ea"/>
                <a:cs typeface="Cambria" pitchFamily="34" charset="-120"/>
              </a:rPr>
              <a:t>整合 </a:t>
            </a:r>
            <a:r>
              <a:rPr lang="en-US" altLang="zh-TW" sz="3600" b="1" dirty="0">
                <a:solidFill>
                  <a:srgbClr val="1E2761"/>
                </a:solidFill>
                <a:latin typeface="+mn-ea"/>
                <a:cs typeface="Cambria" pitchFamily="34" charset="-120"/>
              </a:rPr>
              <a:t>–</a:t>
            </a:r>
            <a:r>
              <a:rPr lang="zh-TW" altLang="en-US" sz="3600" b="1" dirty="0">
                <a:solidFill>
                  <a:srgbClr val="1E2761"/>
                </a:solidFill>
                <a:latin typeface="+mn-ea"/>
                <a:cs typeface="Cambria" pitchFamily="34" charset="-120"/>
              </a:rPr>
              <a:t> 為何是工作流而非聊天機器人</a:t>
            </a:r>
            <a:endParaRPr lang="en-US" sz="3600" dirty="0">
              <a:latin typeface="+mn-ea"/>
            </a:endParaRPr>
          </a:p>
        </p:txBody>
      </p:sp>
      <p:sp>
        <p:nvSpPr>
          <p:cNvPr id="3" name="Text 1"/>
          <p:cNvSpPr/>
          <p:nvPr/>
        </p:nvSpPr>
        <p:spPr>
          <a:xfrm>
            <a:off x="548640" y="987552"/>
            <a:ext cx="10607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zh-TW" altLang="en-US" sz="1400" dirty="0">
                <a:latin typeface="+mn-ea"/>
              </a:rPr>
              <a:t>我們的</a:t>
            </a:r>
            <a:r>
              <a:rPr lang="en-US" altLang="zh-TW" sz="1400" dirty="0">
                <a:latin typeface="+mn-ea"/>
              </a:rPr>
              <a:t>AI</a:t>
            </a:r>
            <a:r>
              <a:rPr lang="zh-TW" altLang="en-US" sz="1400" dirty="0">
                <a:latin typeface="+mn-ea"/>
              </a:rPr>
              <a:t>自動化工作流與一般</a:t>
            </a:r>
            <a:r>
              <a:rPr lang="en-US" altLang="zh-TW" sz="1400" dirty="0">
                <a:latin typeface="+mn-ea"/>
              </a:rPr>
              <a:t>LLM</a:t>
            </a:r>
            <a:r>
              <a:rPr lang="zh-TW" altLang="en-US" sz="1400" dirty="0">
                <a:latin typeface="+mn-ea"/>
              </a:rPr>
              <a:t>聊天機器人哪裡不一樣</a:t>
            </a:r>
            <a:r>
              <a:rPr lang="en-US" altLang="zh-TW" sz="1400" dirty="0">
                <a:latin typeface="+mn-ea"/>
              </a:rPr>
              <a:t>?</a:t>
            </a:r>
            <a:endParaRPr lang="en-US" sz="1400" dirty="0">
              <a:latin typeface="+mn-ea"/>
            </a:endParaRPr>
          </a:p>
        </p:txBody>
      </p:sp>
      <p:sp>
        <p:nvSpPr>
          <p:cNvPr id="4" name="Shape 2"/>
          <p:cNvSpPr/>
          <p:nvPr/>
        </p:nvSpPr>
        <p:spPr>
          <a:xfrm>
            <a:off x="373176" y="4160520"/>
            <a:ext cx="5029200" cy="658368"/>
          </a:xfrm>
          <a:prstGeom prst="roundRect">
            <a:avLst>
              <a:gd name="adj" fmla="val 12500"/>
            </a:avLst>
          </a:prstGeom>
          <a:solidFill>
            <a:srgbClr val="002060"/>
          </a:solidFill>
          <a:ln/>
          <a:effectLst>
            <a:outerShdw blurRad="76200" dist="25400" dir="5400000" algn="bl" rotWithShape="0">
              <a:srgbClr val="1E2761">
                <a:alpha val="18000"/>
              </a:srgbClr>
            </a:outerShdw>
          </a:effectLst>
        </p:spPr>
      </p:sp>
      <p:pic>
        <p:nvPicPr>
          <p:cNvPr id="5" name="Image 0" descr="/home/claude/deck/icons/database_w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7768" y="4315968"/>
            <a:ext cx="347472" cy="347472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994968" y="4215384"/>
            <a:ext cx="4206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>
              <a:buNone/>
            </a:pPr>
            <a:r>
              <a:rPr lang="en-US" sz="1450" b="1" dirty="0" err="1">
                <a:solidFill>
                  <a:srgbClr val="FFFFFF"/>
                </a:solidFill>
                <a:latin typeface="+mn-ea"/>
                <a:cs typeface="Calibri" pitchFamily="34" charset="-120"/>
              </a:rPr>
              <a:t>雲端資料庫</a:t>
            </a:r>
            <a:r>
              <a:rPr lang="en-US" sz="1450" b="1" dirty="0">
                <a:solidFill>
                  <a:srgbClr val="FFFFFF"/>
                </a:solidFill>
                <a:latin typeface="+mn-ea"/>
                <a:cs typeface="Calibri" pitchFamily="34" charset="-120"/>
              </a:rPr>
              <a:t> Cloud Database</a:t>
            </a:r>
            <a:endParaRPr lang="en-US" sz="1450" dirty="0">
              <a:latin typeface="+mn-ea"/>
            </a:endParaRPr>
          </a:p>
        </p:txBody>
      </p:sp>
      <p:sp>
        <p:nvSpPr>
          <p:cNvPr id="7" name="Text 4"/>
          <p:cNvSpPr/>
          <p:nvPr/>
        </p:nvSpPr>
        <p:spPr>
          <a:xfrm>
            <a:off x="994968" y="4507992"/>
            <a:ext cx="44074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 err="1">
                <a:solidFill>
                  <a:schemeClr val="bg1">
                    <a:lumMod val="95000"/>
                  </a:schemeClr>
                </a:solidFill>
                <a:latin typeface="+mn-ea"/>
                <a:cs typeface="Calibri" pitchFamily="34" charset="-120"/>
              </a:rPr>
              <a:t>Supabase</a:t>
            </a:r>
            <a:r>
              <a:rPr lang="en-US" sz="1400" dirty="0">
                <a:solidFill>
                  <a:schemeClr val="bg1">
                    <a:lumMod val="95000"/>
                  </a:schemeClr>
                </a:solidFill>
                <a:latin typeface="+mn-ea"/>
                <a:cs typeface="Calibri" pitchFamily="34" charset="-120"/>
              </a:rPr>
              <a:t> —</a:t>
            </a:r>
            <a:r>
              <a:rPr lang="zh-TW" altLang="en-US" sz="1400" dirty="0">
                <a:solidFill>
                  <a:schemeClr val="bg1">
                    <a:lumMod val="95000"/>
                  </a:schemeClr>
                </a:solidFill>
                <a:latin typeface="+mn-ea"/>
                <a:cs typeface="Calibri" pitchFamily="34" charset="-120"/>
              </a:rPr>
              <a:t>讓</a:t>
            </a:r>
            <a:r>
              <a:rPr lang="en-US" altLang="zh-TW" sz="1400" dirty="0">
                <a:solidFill>
                  <a:schemeClr val="bg1">
                    <a:lumMod val="95000"/>
                  </a:schemeClr>
                </a:solidFill>
                <a:latin typeface="+mn-ea"/>
                <a:cs typeface="Calibri" pitchFamily="34" charset="-120"/>
              </a:rPr>
              <a:t>AI</a:t>
            </a:r>
            <a:r>
              <a:rPr lang="zh-TW" altLang="en-US" sz="1400" dirty="0">
                <a:solidFill>
                  <a:schemeClr val="bg1">
                    <a:lumMod val="95000"/>
                  </a:schemeClr>
                </a:solidFill>
                <a:latin typeface="+mn-ea"/>
                <a:cs typeface="Calibri" pitchFamily="34" charset="-120"/>
              </a:rPr>
              <a:t>能先把資料彙整，以利分析</a:t>
            </a:r>
            <a:endParaRPr lang="en-US" altLang="zh-TW" sz="1400" dirty="0">
              <a:solidFill>
                <a:schemeClr val="bg1">
                  <a:lumMod val="95000"/>
                </a:schemeClr>
              </a:solidFill>
              <a:latin typeface="+mn-ea"/>
              <a:cs typeface="Calibri" pitchFamily="34" charset="-120"/>
            </a:endParaRPr>
          </a:p>
        </p:txBody>
      </p:sp>
      <p:sp>
        <p:nvSpPr>
          <p:cNvPr id="8" name="Shape 5"/>
          <p:cNvSpPr/>
          <p:nvPr/>
        </p:nvSpPr>
        <p:spPr>
          <a:xfrm>
            <a:off x="373176" y="4983480"/>
            <a:ext cx="5029200" cy="658368"/>
          </a:xfrm>
          <a:prstGeom prst="roundRect">
            <a:avLst>
              <a:gd name="adj" fmla="val 12500"/>
            </a:avLst>
          </a:prstGeom>
          <a:solidFill>
            <a:srgbClr val="002060"/>
          </a:solidFill>
          <a:ln/>
          <a:effectLst>
            <a:outerShdw blurRad="76200" dist="25400" dir="5400000" algn="bl" rotWithShape="0">
              <a:srgbClr val="1E2761">
                <a:alpha val="18000"/>
              </a:srgbClr>
            </a:outerShdw>
          </a:effectLst>
        </p:spPr>
      </p:sp>
      <p:pic>
        <p:nvPicPr>
          <p:cNvPr id="9" name="Image 1" descr="/home/claude/deck/icons/cloud_w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7768" y="5138928"/>
            <a:ext cx="347472" cy="347472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994968" y="5038344"/>
            <a:ext cx="4206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>
              <a:buNone/>
            </a:pPr>
            <a:r>
              <a:rPr lang="en-US" sz="1450" b="1" dirty="0" err="1">
                <a:solidFill>
                  <a:srgbClr val="FFFFFF"/>
                </a:solidFill>
                <a:latin typeface="+mn-ea"/>
                <a:cs typeface="Calibri" pitchFamily="34" charset="-120"/>
              </a:rPr>
              <a:t>雲端平台</a:t>
            </a:r>
            <a:r>
              <a:rPr lang="en-US" sz="1450" b="1" dirty="0">
                <a:solidFill>
                  <a:srgbClr val="FFFFFF"/>
                </a:solidFill>
                <a:latin typeface="+mn-ea"/>
                <a:cs typeface="Calibri" pitchFamily="34" charset="-120"/>
              </a:rPr>
              <a:t> Cloud Host</a:t>
            </a:r>
            <a:endParaRPr lang="en-US" sz="1450" dirty="0">
              <a:latin typeface="+mn-ea"/>
            </a:endParaRPr>
          </a:p>
        </p:txBody>
      </p:sp>
      <p:sp>
        <p:nvSpPr>
          <p:cNvPr id="11" name="Text 7"/>
          <p:cNvSpPr/>
          <p:nvPr/>
        </p:nvSpPr>
        <p:spPr>
          <a:xfrm>
            <a:off x="994968" y="5330952"/>
            <a:ext cx="4206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bg1">
                    <a:lumMod val="95000"/>
                  </a:schemeClr>
                </a:solidFill>
                <a:latin typeface="+mn-ea"/>
                <a:cs typeface="Calibri" pitchFamily="34" charset="-120"/>
              </a:rPr>
              <a:t>Render — 24小時運算</a:t>
            </a:r>
            <a:r>
              <a:rPr lang="zh-TW" altLang="en-US" sz="1400" dirty="0">
                <a:solidFill>
                  <a:schemeClr val="bg1">
                    <a:lumMod val="95000"/>
                  </a:schemeClr>
                </a:solidFill>
                <a:latin typeface="+mn-ea"/>
                <a:cs typeface="Calibri" pitchFamily="34" charset="-120"/>
              </a:rPr>
              <a:t>，電腦關起來也可以自己跑</a:t>
            </a:r>
            <a:endParaRPr lang="en-US" sz="1400" dirty="0">
              <a:solidFill>
                <a:schemeClr val="bg1">
                  <a:lumMod val="95000"/>
                </a:schemeClr>
              </a:solidFill>
              <a:latin typeface="+mn-ea"/>
            </a:endParaRPr>
          </a:p>
        </p:txBody>
      </p:sp>
      <p:sp>
        <p:nvSpPr>
          <p:cNvPr id="12" name="Shape 8"/>
          <p:cNvSpPr/>
          <p:nvPr/>
        </p:nvSpPr>
        <p:spPr>
          <a:xfrm>
            <a:off x="373176" y="5806440"/>
            <a:ext cx="5029200" cy="658368"/>
          </a:xfrm>
          <a:prstGeom prst="roundRect">
            <a:avLst>
              <a:gd name="adj" fmla="val 12500"/>
            </a:avLst>
          </a:prstGeom>
          <a:solidFill>
            <a:srgbClr val="002060"/>
          </a:solidFill>
          <a:ln/>
          <a:effectLst>
            <a:outerShdw blurRad="76200" dist="25400" dir="5400000" algn="bl" rotWithShape="0">
              <a:srgbClr val="1E2761">
                <a:alpha val="18000"/>
              </a:srgbClr>
            </a:outerShdw>
          </a:effectLst>
        </p:spPr>
      </p:sp>
      <p:pic>
        <p:nvPicPr>
          <p:cNvPr id="13" name="Image 2" descr="/home/claude/deck/icons/robot_w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37768" y="5961888"/>
            <a:ext cx="347472" cy="347472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994968" y="5861304"/>
            <a:ext cx="4206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>
              <a:buNone/>
            </a:pPr>
            <a:r>
              <a:rPr lang="en-US" sz="1450" b="1" dirty="0" err="1">
                <a:solidFill>
                  <a:srgbClr val="FFFFFF"/>
                </a:solidFill>
                <a:latin typeface="+mn-ea"/>
                <a:cs typeface="Calibri" pitchFamily="34" charset="-120"/>
              </a:rPr>
              <a:t>工作流</a:t>
            </a:r>
            <a:r>
              <a:rPr lang="en-US" sz="1450" b="1" dirty="0">
                <a:solidFill>
                  <a:srgbClr val="FFFFFF"/>
                </a:solidFill>
                <a:latin typeface="+mn-ea"/>
                <a:cs typeface="Calibri" pitchFamily="34" charset="-120"/>
              </a:rPr>
              <a:t> Workflow</a:t>
            </a:r>
            <a:endParaRPr lang="en-US" sz="1450" dirty="0">
              <a:latin typeface="+mn-ea"/>
            </a:endParaRPr>
          </a:p>
        </p:txBody>
      </p:sp>
      <p:sp>
        <p:nvSpPr>
          <p:cNvPr id="15" name="Text 10"/>
          <p:cNvSpPr/>
          <p:nvPr/>
        </p:nvSpPr>
        <p:spPr>
          <a:xfrm>
            <a:off x="994968" y="6153912"/>
            <a:ext cx="4206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bg1">
                    <a:lumMod val="95000"/>
                  </a:schemeClr>
                </a:solidFill>
                <a:latin typeface="+mn-ea"/>
                <a:cs typeface="Calibri" pitchFamily="34" charset="-120"/>
              </a:rPr>
              <a:t>Python </a:t>
            </a:r>
            <a:r>
              <a:rPr lang="en-US" sz="1400" dirty="0" err="1">
                <a:solidFill>
                  <a:schemeClr val="bg1">
                    <a:lumMod val="95000"/>
                  </a:schemeClr>
                </a:solidFill>
                <a:latin typeface="+mn-ea"/>
                <a:cs typeface="Calibri" pitchFamily="34" charset="-120"/>
              </a:rPr>
              <a:t>自動化排程</a:t>
            </a:r>
            <a:endParaRPr lang="en-US" sz="1400" dirty="0">
              <a:solidFill>
                <a:schemeClr val="bg1">
                  <a:lumMod val="95000"/>
                </a:schemeClr>
              </a:solidFill>
              <a:latin typeface="+mn-ea"/>
            </a:endParaRPr>
          </a:p>
        </p:txBody>
      </p:sp>
      <p:sp>
        <p:nvSpPr>
          <p:cNvPr id="16" name="Shape 11"/>
          <p:cNvSpPr/>
          <p:nvPr/>
        </p:nvSpPr>
        <p:spPr>
          <a:xfrm>
            <a:off x="373176" y="2098548"/>
            <a:ext cx="5029200" cy="658368"/>
          </a:xfrm>
          <a:prstGeom prst="roundRect">
            <a:avLst>
              <a:gd name="adj" fmla="val 12500"/>
            </a:avLst>
          </a:prstGeom>
          <a:solidFill>
            <a:schemeClr val="tx2">
              <a:lumMod val="20000"/>
              <a:lumOff val="80000"/>
            </a:schemeClr>
          </a:solidFill>
          <a:ln/>
          <a:effectLst>
            <a:outerShdw blurRad="76200" dist="25400" dir="5400000" algn="bl" rotWithShape="0">
              <a:srgbClr val="1E2761">
                <a:alpha val="18000"/>
              </a:srgbClr>
            </a:outerShdw>
          </a:effectLst>
        </p:spPr>
      </p:sp>
      <p:pic>
        <p:nvPicPr>
          <p:cNvPr id="17" name="Image 3" descr="/home/claude/deck/icons/comments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37768" y="2253996"/>
            <a:ext cx="347472" cy="347472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994968" y="2153412"/>
            <a:ext cx="4206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>
              <a:buNone/>
            </a:pPr>
            <a:r>
              <a:rPr lang="en-US" sz="1450" b="1" dirty="0">
                <a:solidFill>
                  <a:srgbClr val="1E2761"/>
                </a:solidFill>
                <a:latin typeface="+mn-ea"/>
                <a:cs typeface="Calibri" pitchFamily="34" charset="-120"/>
              </a:rPr>
              <a:t>LLM </a:t>
            </a:r>
            <a:r>
              <a:rPr lang="en-US" sz="1450" b="1" dirty="0" err="1">
                <a:solidFill>
                  <a:srgbClr val="1E2761"/>
                </a:solidFill>
                <a:latin typeface="+mn-ea"/>
                <a:cs typeface="Calibri" pitchFamily="34" charset="-120"/>
              </a:rPr>
              <a:t>平台（聊天機器人Chatbot</a:t>
            </a:r>
            <a:r>
              <a:rPr lang="en-US" sz="1450" b="1" dirty="0">
                <a:solidFill>
                  <a:srgbClr val="1E2761"/>
                </a:solidFill>
                <a:latin typeface="+mn-ea"/>
                <a:cs typeface="Calibri" pitchFamily="34" charset="-120"/>
              </a:rPr>
              <a:t>）</a:t>
            </a:r>
            <a:endParaRPr lang="en-US" sz="1450" dirty="0">
              <a:latin typeface="+mn-ea"/>
            </a:endParaRPr>
          </a:p>
        </p:txBody>
      </p:sp>
      <p:sp>
        <p:nvSpPr>
          <p:cNvPr id="19" name="Text 13"/>
          <p:cNvSpPr/>
          <p:nvPr/>
        </p:nvSpPr>
        <p:spPr>
          <a:xfrm>
            <a:off x="994968" y="2446020"/>
            <a:ext cx="4206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zh-TW" altLang="en-US" sz="1400" dirty="0">
                <a:latin typeface="+mn-ea"/>
              </a:rPr>
              <a:t>例如</a:t>
            </a:r>
            <a:r>
              <a:rPr lang="en-US" altLang="zh-TW" sz="1400" dirty="0">
                <a:latin typeface="+mn-ea"/>
              </a:rPr>
              <a:t>:</a:t>
            </a:r>
            <a:r>
              <a:rPr lang="zh-TW" altLang="en-US" sz="1400" dirty="0">
                <a:latin typeface="+mn-ea"/>
              </a:rPr>
              <a:t> </a:t>
            </a:r>
            <a:r>
              <a:rPr lang="en-US" altLang="zh-TW" sz="1400" dirty="0" err="1">
                <a:latin typeface="+mn-ea"/>
              </a:rPr>
              <a:t>ChatGPT</a:t>
            </a:r>
            <a:r>
              <a:rPr lang="zh-TW" altLang="en-US" sz="1400" dirty="0">
                <a:latin typeface="+mn-ea"/>
              </a:rPr>
              <a:t>、台新</a:t>
            </a:r>
            <a:r>
              <a:rPr lang="en-US" altLang="zh-TW" sz="1400" dirty="0">
                <a:latin typeface="+mn-ea"/>
              </a:rPr>
              <a:t>AI</a:t>
            </a:r>
            <a:r>
              <a:rPr lang="zh-TW" altLang="en-US" sz="1400" dirty="0">
                <a:latin typeface="+mn-ea"/>
              </a:rPr>
              <a:t>、</a:t>
            </a:r>
            <a:r>
              <a:rPr lang="en-US" altLang="zh-TW" sz="1400" dirty="0">
                <a:latin typeface="+mn-ea"/>
              </a:rPr>
              <a:t>Claude</a:t>
            </a:r>
            <a:r>
              <a:rPr lang="zh-TW" altLang="en-US" sz="1400" dirty="0">
                <a:latin typeface="+mn-ea"/>
              </a:rPr>
              <a:t>平台</a:t>
            </a:r>
            <a:endParaRPr lang="en-US" sz="1400" dirty="0">
              <a:latin typeface="+mn-ea"/>
            </a:endParaRPr>
          </a:p>
        </p:txBody>
      </p:sp>
      <p:sp>
        <p:nvSpPr>
          <p:cNvPr id="20" name="Shape 14"/>
          <p:cNvSpPr/>
          <p:nvPr/>
        </p:nvSpPr>
        <p:spPr>
          <a:xfrm>
            <a:off x="373176" y="3355848"/>
            <a:ext cx="5029200" cy="658368"/>
          </a:xfrm>
          <a:prstGeom prst="roundRect">
            <a:avLst>
              <a:gd name="adj" fmla="val 12500"/>
            </a:avLst>
          </a:prstGeom>
          <a:solidFill>
            <a:schemeClr val="bg1">
              <a:lumMod val="95000"/>
            </a:schemeClr>
          </a:solidFill>
          <a:ln/>
          <a:effectLst>
            <a:outerShdw blurRad="76200" dist="25400" dir="5400000" algn="bl" rotWithShape="0">
              <a:srgbClr val="1E2761">
                <a:alpha val="18000"/>
              </a:srgbClr>
            </a:outerShdw>
          </a:effectLst>
        </p:spPr>
      </p:sp>
      <p:pic>
        <p:nvPicPr>
          <p:cNvPr id="21" name="Image 4" descr="/home/claude/deck/icons/brain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37768" y="3511296"/>
            <a:ext cx="347472" cy="347472"/>
          </a:xfrm>
          <a:prstGeom prst="rect">
            <a:avLst/>
          </a:prstGeom>
        </p:spPr>
      </p:pic>
      <p:sp>
        <p:nvSpPr>
          <p:cNvPr id="22" name="Text 15"/>
          <p:cNvSpPr/>
          <p:nvPr/>
        </p:nvSpPr>
        <p:spPr>
          <a:xfrm>
            <a:off x="994968" y="3410712"/>
            <a:ext cx="4206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>
              <a:buNone/>
            </a:pPr>
            <a:r>
              <a:rPr lang="en-US" sz="1450" b="1" dirty="0">
                <a:solidFill>
                  <a:srgbClr val="1E2761"/>
                </a:solidFill>
                <a:latin typeface="+mn-ea"/>
                <a:cs typeface="Calibri" pitchFamily="34" charset="-120"/>
              </a:rPr>
              <a:t>LLM </a:t>
            </a:r>
            <a:r>
              <a:rPr lang="zh-TW" altLang="en-US" sz="1450" b="1" dirty="0">
                <a:solidFill>
                  <a:srgbClr val="1E2761"/>
                </a:solidFill>
                <a:latin typeface="+mn-ea"/>
                <a:cs typeface="Calibri" pitchFamily="34" charset="-120"/>
              </a:rPr>
              <a:t>大語言</a:t>
            </a:r>
            <a:r>
              <a:rPr lang="en-US" sz="1450" b="1" dirty="0" err="1">
                <a:solidFill>
                  <a:srgbClr val="1E2761"/>
                </a:solidFill>
                <a:latin typeface="+mn-ea"/>
                <a:cs typeface="Calibri" pitchFamily="34" charset="-120"/>
              </a:rPr>
              <a:t>模型</a:t>
            </a:r>
            <a:r>
              <a:rPr lang="zh-TW" altLang="en-US" sz="1450" b="1" dirty="0">
                <a:solidFill>
                  <a:srgbClr val="1E2761"/>
                </a:solidFill>
                <a:latin typeface="+mn-ea"/>
                <a:cs typeface="Calibri" pitchFamily="34" charset="-120"/>
              </a:rPr>
              <a:t> </a:t>
            </a:r>
            <a:r>
              <a:rPr lang="en-US" altLang="zh-TW" sz="1450" b="1" dirty="0">
                <a:solidFill>
                  <a:srgbClr val="1E2761"/>
                </a:solidFill>
                <a:latin typeface="+mn-ea"/>
                <a:cs typeface="Calibri" pitchFamily="34" charset="-120"/>
              </a:rPr>
              <a:t>(AI</a:t>
            </a:r>
            <a:r>
              <a:rPr lang="zh-TW" altLang="en-US" sz="1450" b="1" dirty="0">
                <a:solidFill>
                  <a:srgbClr val="1E2761"/>
                </a:solidFill>
                <a:latin typeface="+mn-ea"/>
                <a:cs typeface="Calibri" pitchFamily="34" charset="-120"/>
              </a:rPr>
              <a:t>的腦袋</a:t>
            </a:r>
            <a:r>
              <a:rPr lang="en-US" altLang="zh-TW" sz="1450" b="1" dirty="0">
                <a:solidFill>
                  <a:srgbClr val="1E2761"/>
                </a:solidFill>
                <a:latin typeface="+mn-ea"/>
                <a:cs typeface="Calibri" pitchFamily="34" charset="-120"/>
              </a:rPr>
              <a:t>)</a:t>
            </a:r>
            <a:endParaRPr lang="en-US" sz="1450" dirty="0">
              <a:latin typeface="+mn-ea"/>
            </a:endParaRPr>
          </a:p>
        </p:txBody>
      </p:sp>
      <p:sp>
        <p:nvSpPr>
          <p:cNvPr id="23" name="Text 16"/>
          <p:cNvSpPr/>
          <p:nvPr/>
        </p:nvSpPr>
        <p:spPr>
          <a:xfrm>
            <a:off x="994968" y="3703320"/>
            <a:ext cx="4206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zh-TW" altLang="en-US" sz="1400" dirty="0">
                <a:latin typeface="+mn-ea"/>
                <a:cs typeface="Calibri" pitchFamily="34" charset="-120"/>
              </a:rPr>
              <a:t>例如</a:t>
            </a:r>
            <a:r>
              <a:rPr lang="en-US" altLang="zh-TW" sz="1400" dirty="0">
                <a:latin typeface="+mn-ea"/>
                <a:cs typeface="Calibri" pitchFamily="34" charset="-120"/>
              </a:rPr>
              <a:t>:</a:t>
            </a:r>
            <a:r>
              <a:rPr lang="zh-TW" altLang="en-US" sz="1400" dirty="0">
                <a:latin typeface="+mn-ea"/>
                <a:cs typeface="Calibri" pitchFamily="34" charset="-120"/>
              </a:rPr>
              <a:t> </a:t>
            </a:r>
            <a:r>
              <a:rPr lang="en-US" altLang="zh-TW" sz="1400" dirty="0">
                <a:latin typeface="+mn-ea"/>
                <a:cs typeface="Calibri" pitchFamily="34" charset="-120"/>
              </a:rPr>
              <a:t>Qwen3.8MAX, Claude Fable5, GPT5</a:t>
            </a:r>
            <a:endParaRPr lang="en-US" sz="1400" dirty="0">
              <a:latin typeface="+mn-ea"/>
            </a:endParaRPr>
          </a:p>
        </p:txBody>
      </p:sp>
      <p:sp>
        <p:nvSpPr>
          <p:cNvPr id="26" name="Text 19"/>
          <p:cNvSpPr/>
          <p:nvPr/>
        </p:nvSpPr>
        <p:spPr>
          <a:xfrm>
            <a:off x="5989320" y="1691640"/>
            <a:ext cx="5623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1E2761"/>
                </a:solidFill>
                <a:latin typeface="+mn-ea"/>
                <a:cs typeface="Cambria" pitchFamily="34" charset="-120"/>
              </a:rPr>
              <a:t>為什麼還要多寫一層 Python？</a:t>
            </a:r>
            <a:endParaRPr lang="en-US" sz="1900" dirty="0">
              <a:latin typeface="+mn-ea"/>
            </a:endParaRPr>
          </a:p>
        </p:txBody>
      </p:sp>
      <p:pic>
        <p:nvPicPr>
          <p:cNvPr id="27" name="Image 5" descr="/home/claude/deck/icons/check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989320" y="2231136"/>
            <a:ext cx="274320" cy="274320"/>
          </a:xfrm>
          <a:prstGeom prst="rect">
            <a:avLst/>
          </a:prstGeom>
        </p:spPr>
      </p:pic>
      <p:sp>
        <p:nvSpPr>
          <p:cNvPr id="28" name="Text 20"/>
          <p:cNvSpPr/>
          <p:nvPr/>
        </p:nvSpPr>
        <p:spPr>
          <a:xfrm>
            <a:off x="6409944" y="2185416"/>
            <a:ext cx="5166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E2761"/>
                </a:solidFill>
                <a:latin typeface="+mn-ea"/>
                <a:cs typeface="Calibri" pitchFamily="34" charset="-120"/>
              </a:rPr>
              <a:t>排程自動觸發</a:t>
            </a:r>
            <a:endParaRPr lang="en-US" sz="1450" dirty="0">
              <a:latin typeface="+mn-ea"/>
            </a:endParaRPr>
          </a:p>
        </p:txBody>
      </p:sp>
      <p:sp>
        <p:nvSpPr>
          <p:cNvPr id="29" name="Text 21"/>
          <p:cNvSpPr/>
          <p:nvPr/>
        </p:nvSpPr>
        <p:spPr>
          <a:xfrm>
            <a:off x="6409944" y="2505456"/>
            <a:ext cx="5166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 err="1">
                <a:solidFill>
                  <a:schemeClr val="tx2">
                    <a:lumMod val="50000"/>
                  </a:schemeClr>
                </a:solidFill>
                <a:latin typeface="+mn-ea"/>
                <a:cs typeface="Calibri" pitchFamily="34" charset="-120"/>
              </a:rPr>
              <a:t>每天固定時間自動開始，不用有人手動開對話</a:t>
            </a:r>
            <a:endParaRPr lang="en-US" sz="1250" dirty="0">
              <a:solidFill>
                <a:schemeClr val="tx2">
                  <a:lumMod val="50000"/>
                </a:schemeClr>
              </a:solidFill>
              <a:latin typeface="+mn-ea"/>
            </a:endParaRPr>
          </a:p>
        </p:txBody>
      </p:sp>
      <p:pic>
        <p:nvPicPr>
          <p:cNvPr id="30" name="Image 6" descr="/home/claude/deck/icons/check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989320" y="3072384"/>
            <a:ext cx="274320" cy="274320"/>
          </a:xfrm>
          <a:prstGeom prst="rect">
            <a:avLst/>
          </a:prstGeom>
        </p:spPr>
      </p:pic>
      <p:sp>
        <p:nvSpPr>
          <p:cNvPr id="31" name="Text 22"/>
          <p:cNvSpPr/>
          <p:nvPr/>
        </p:nvSpPr>
        <p:spPr>
          <a:xfrm>
            <a:off x="6409944" y="3026664"/>
            <a:ext cx="5166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E2761"/>
                </a:solidFill>
                <a:latin typeface="+mn-ea"/>
                <a:cs typeface="Calibri" pitchFamily="34" charset="-120"/>
              </a:rPr>
              <a:t>串接外部資料</a:t>
            </a:r>
            <a:endParaRPr lang="en-US" sz="1450" dirty="0">
              <a:latin typeface="+mn-ea"/>
            </a:endParaRPr>
          </a:p>
        </p:txBody>
      </p:sp>
      <p:sp>
        <p:nvSpPr>
          <p:cNvPr id="32" name="Text 23"/>
          <p:cNvSpPr/>
          <p:nvPr/>
        </p:nvSpPr>
        <p:spPr>
          <a:xfrm>
            <a:off x="6409944" y="3315755"/>
            <a:ext cx="5166360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zh-TW" altLang="en-US" sz="1250" dirty="0">
                <a:solidFill>
                  <a:schemeClr val="tx2">
                    <a:lumMod val="50000"/>
                  </a:schemeClr>
                </a:solidFill>
                <a:latin typeface="+mn-ea"/>
                <a:cs typeface="Calibri" pitchFamily="34" charset="-120"/>
              </a:rPr>
              <a:t>匯</a:t>
            </a:r>
            <a:r>
              <a:rPr lang="en-US" sz="1250" dirty="0" err="1">
                <a:solidFill>
                  <a:schemeClr val="tx2">
                    <a:lumMod val="50000"/>
                  </a:schemeClr>
                </a:solidFill>
                <a:latin typeface="+mn-ea"/>
                <a:cs typeface="Calibri" pitchFamily="34" charset="-120"/>
              </a:rPr>
              <a:t>價、新聞、經濟日曆</a:t>
            </a:r>
            <a:r>
              <a:rPr lang="en-US" sz="1250" dirty="0">
                <a:solidFill>
                  <a:schemeClr val="tx2">
                    <a:lumMod val="50000"/>
                  </a:schemeClr>
                </a:solidFill>
                <a:latin typeface="+mn-ea"/>
                <a:cs typeface="Calibri" pitchFamily="34" charset="-120"/>
              </a:rPr>
              <a:t>——</a:t>
            </a:r>
            <a:r>
              <a:rPr lang="en-US" sz="1250" dirty="0" err="1">
                <a:solidFill>
                  <a:schemeClr val="tx2">
                    <a:lumMod val="50000"/>
                  </a:schemeClr>
                </a:solidFill>
                <a:latin typeface="+mn-ea"/>
                <a:cs typeface="Calibri" pitchFamily="34" charset="-120"/>
              </a:rPr>
              <a:t>聊天機器人自己拿不到</a:t>
            </a:r>
            <a:r>
              <a:rPr lang="zh-TW" altLang="en-US" sz="1250" dirty="0">
                <a:solidFill>
                  <a:schemeClr val="tx2">
                    <a:lumMod val="50000"/>
                  </a:schemeClr>
                </a:solidFill>
                <a:latin typeface="+mn-ea"/>
                <a:cs typeface="Calibri" pitchFamily="34" charset="-120"/>
              </a:rPr>
              <a:t>，或是會亂抓數字</a:t>
            </a:r>
            <a:endParaRPr lang="en-US" altLang="zh-TW" sz="1250" dirty="0">
              <a:solidFill>
                <a:schemeClr val="tx2">
                  <a:lumMod val="50000"/>
                </a:schemeClr>
              </a:solidFill>
              <a:latin typeface="+mn-ea"/>
              <a:cs typeface="Calibri" pitchFamily="34" charset="-120"/>
            </a:endParaRPr>
          </a:p>
          <a:p>
            <a:pPr marL="0" indent="0">
              <a:buNone/>
            </a:pPr>
            <a:r>
              <a:rPr lang="zh-TW" altLang="en-US" sz="1250" dirty="0">
                <a:solidFill>
                  <a:schemeClr val="tx2">
                    <a:lumMod val="50000"/>
                  </a:schemeClr>
                </a:solidFill>
                <a:latin typeface="+mn-ea"/>
                <a:cs typeface="Calibri" pitchFamily="34" charset="-120"/>
              </a:rPr>
              <a:t>透過</a:t>
            </a:r>
            <a:r>
              <a:rPr lang="en-US" altLang="zh-TW" sz="1250" dirty="0">
                <a:solidFill>
                  <a:schemeClr val="tx2">
                    <a:lumMod val="50000"/>
                  </a:schemeClr>
                </a:solidFill>
                <a:latin typeface="+mn-ea"/>
                <a:cs typeface="Calibri" pitchFamily="34" charset="-120"/>
              </a:rPr>
              <a:t>Python</a:t>
            </a:r>
            <a:r>
              <a:rPr lang="zh-TW" altLang="en-US" sz="1250" dirty="0">
                <a:solidFill>
                  <a:schemeClr val="tx2">
                    <a:lumMod val="50000"/>
                  </a:schemeClr>
                </a:solidFill>
                <a:latin typeface="+mn-ea"/>
                <a:cs typeface="Calibri" pitchFamily="34" charset="-120"/>
              </a:rPr>
              <a:t>用</a:t>
            </a:r>
            <a:r>
              <a:rPr lang="en-US" altLang="zh-TW" sz="1250" dirty="0">
                <a:solidFill>
                  <a:schemeClr val="tx2">
                    <a:lumMod val="50000"/>
                  </a:schemeClr>
                </a:solidFill>
                <a:latin typeface="+mn-ea"/>
                <a:cs typeface="Calibri" pitchFamily="34" charset="-120"/>
              </a:rPr>
              <a:t>API</a:t>
            </a:r>
            <a:r>
              <a:rPr lang="zh-TW" altLang="en-US" sz="1250" dirty="0">
                <a:solidFill>
                  <a:schemeClr val="tx2">
                    <a:lumMod val="50000"/>
                  </a:schemeClr>
                </a:solidFill>
                <a:latin typeface="+mn-ea"/>
                <a:cs typeface="Calibri" pitchFamily="34" charset="-120"/>
              </a:rPr>
              <a:t>、</a:t>
            </a:r>
            <a:r>
              <a:rPr lang="en-US" altLang="zh-TW" sz="1250" dirty="0">
                <a:solidFill>
                  <a:schemeClr val="tx2">
                    <a:lumMod val="50000"/>
                  </a:schemeClr>
                </a:solidFill>
                <a:latin typeface="+mn-ea"/>
                <a:cs typeface="Calibri" pitchFamily="34" charset="-120"/>
              </a:rPr>
              <a:t>RSS</a:t>
            </a:r>
            <a:r>
              <a:rPr lang="zh-TW" altLang="en-US" sz="1250" dirty="0">
                <a:solidFill>
                  <a:schemeClr val="tx2">
                    <a:lumMod val="50000"/>
                  </a:schemeClr>
                </a:solidFill>
                <a:latin typeface="+mn-ea"/>
                <a:cs typeface="Calibri" pitchFamily="34" charset="-120"/>
              </a:rPr>
              <a:t>抓取，資料更正確、穩定</a:t>
            </a:r>
            <a:endParaRPr lang="en-US" sz="1250" dirty="0">
              <a:solidFill>
                <a:schemeClr val="tx2">
                  <a:lumMod val="50000"/>
                </a:schemeClr>
              </a:solidFill>
              <a:latin typeface="+mn-ea"/>
            </a:endParaRPr>
          </a:p>
        </p:txBody>
      </p:sp>
      <p:pic>
        <p:nvPicPr>
          <p:cNvPr id="33" name="Image 7" descr="/home/claude/deck/icons/check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989320" y="3913632"/>
            <a:ext cx="274320" cy="274320"/>
          </a:xfrm>
          <a:prstGeom prst="rect">
            <a:avLst/>
          </a:prstGeom>
        </p:spPr>
      </p:pic>
      <p:sp>
        <p:nvSpPr>
          <p:cNvPr id="34" name="Text 24"/>
          <p:cNvSpPr/>
          <p:nvPr/>
        </p:nvSpPr>
        <p:spPr>
          <a:xfrm>
            <a:off x="6409944" y="3867912"/>
            <a:ext cx="5166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zh-TW" altLang="en-US" sz="1450" b="1" dirty="0">
                <a:solidFill>
                  <a:srgbClr val="1E2761"/>
                </a:solidFill>
                <a:latin typeface="+mn-ea"/>
                <a:cs typeface="Calibri" pitchFamily="34" charset="-120"/>
              </a:rPr>
              <a:t>標準化工作流程</a:t>
            </a:r>
            <a:endParaRPr lang="en-US" sz="1450" dirty="0">
              <a:latin typeface="+mn-ea"/>
            </a:endParaRPr>
          </a:p>
        </p:txBody>
      </p:sp>
      <p:sp>
        <p:nvSpPr>
          <p:cNvPr id="35" name="Text 25"/>
          <p:cNvSpPr/>
          <p:nvPr/>
        </p:nvSpPr>
        <p:spPr>
          <a:xfrm>
            <a:off x="6409944" y="4187952"/>
            <a:ext cx="5166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zh-TW" altLang="en-US" sz="1250" dirty="0">
                <a:solidFill>
                  <a:schemeClr val="tx2">
                    <a:lumMod val="50000"/>
                  </a:schemeClr>
                </a:solidFill>
                <a:latin typeface="+mn-ea"/>
                <a:cs typeface="Calibri" pitchFamily="34" charset="-120"/>
              </a:rPr>
              <a:t>就像車廠流程線一樣，標準化</a:t>
            </a:r>
            <a:r>
              <a:rPr lang="en-US" altLang="zh-TW" sz="1250" dirty="0">
                <a:solidFill>
                  <a:schemeClr val="tx2">
                    <a:lumMod val="50000"/>
                  </a:schemeClr>
                </a:solidFill>
                <a:latin typeface="+mn-ea"/>
                <a:cs typeface="Calibri" pitchFamily="34" charset="-120"/>
              </a:rPr>
              <a:t>SOP</a:t>
            </a:r>
            <a:r>
              <a:rPr lang="zh-TW" altLang="en-US" sz="1250" dirty="0">
                <a:solidFill>
                  <a:schemeClr val="tx2">
                    <a:lumMod val="50000"/>
                  </a:schemeClr>
                </a:solidFill>
                <a:latin typeface="+mn-ea"/>
                <a:cs typeface="Calibri" pitchFamily="34" charset="-120"/>
              </a:rPr>
              <a:t>，指定</a:t>
            </a:r>
            <a:r>
              <a:rPr lang="en-US" altLang="zh-TW" sz="1250" dirty="0">
                <a:solidFill>
                  <a:schemeClr val="tx2">
                    <a:lumMod val="50000"/>
                  </a:schemeClr>
                </a:solidFill>
                <a:latin typeface="+mn-ea"/>
                <a:cs typeface="Calibri" pitchFamily="34" charset="-120"/>
              </a:rPr>
              <a:t>LLM</a:t>
            </a:r>
            <a:r>
              <a:rPr lang="zh-TW" altLang="en-US" sz="1250" dirty="0">
                <a:solidFill>
                  <a:schemeClr val="tx2">
                    <a:lumMod val="50000"/>
                  </a:schemeClr>
                </a:solidFill>
                <a:latin typeface="+mn-ea"/>
                <a:cs typeface="Calibri" pitchFamily="34" charset="-120"/>
              </a:rPr>
              <a:t>在對的環節做對的事情</a:t>
            </a:r>
            <a:endParaRPr lang="en-US" altLang="zh-TW" sz="1250" dirty="0">
              <a:solidFill>
                <a:schemeClr val="tx2">
                  <a:lumMod val="50000"/>
                </a:schemeClr>
              </a:solidFill>
              <a:latin typeface="+mn-ea"/>
              <a:cs typeface="Calibri" pitchFamily="34" charset="-120"/>
            </a:endParaRPr>
          </a:p>
          <a:p>
            <a:pPr marL="0" indent="0">
              <a:buNone/>
            </a:pPr>
            <a:r>
              <a:rPr lang="zh-TW" altLang="en-US" sz="1250" dirty="0">
                <a:solidFill>
                  <a:schemeClr val="tx2">
                    <a:lumMod val="50000"/>
                  </a:schemeClr>
                </a:solidFill>
                <a:latin typeface="+mn-ea"/>
                <a:cs typeface="Calibri" pitchFamily="34" charset="-120"/>
              </a:rPr>
              <a:t>選用甚麼資料、如何整合成</a:t>
            </a:r>
            <a:r>
              <a:rPr lang="en-US" altLang="zh-TW" sz="1250" dirty="0">
                <a:solidFill>
                  <a:schemeClr val="tx2">
                    <a:lumMod val="50000"/>
                  </a:schemeClr>
                </a:solidFill>
                <a:latin typeface="+mn-ea"/>
                <a:cs typeface="Calibri" pitchFamily="34" charset="-120"/>
              </a:rPr>
              <a:t>HTML</a:t>
            </a:r>
            <a:r>
              <a:rPr lang="zh-TW" altLang="en-US" sz="1250" dirty="0">
                <a:solidFill>
                  <a:schemeClr val="tx2">
                    <a:lumMod val="50000"/>
                  </a:schemeClr>
                </a:solidFill>
                <a:latin typeface="+mn-ea"/>
                <a:cs typeface="Calibri" pitchFamily="34" charset="-120"/>
              </a:rPr>
              <a:t>文件，後續怎麼寄</a:t>
            </a:r>
            <a:r>
              <a:rPr lang="en-US" altLang="zh-TW" sz="1250" dirty="0">
                <a:solidFill>
                  <a:schemeClr val="tx2">
                    <a:lumMod val="50000"/>
                  </a:schemeClr>
                </a:solidFill>
                <a:latin typeface="+mn-ea"/>
                <a:cs typeface="Calibri" pitchFamily="34" charset="-120"/>
              </a:rPr>
              <a:t>Email</a:t>
            </a:r>
            <a:r>
              <a:rPr lang="zh-TW" altLang="en-US" sz="1250" dirty="0">
                <a:solidFill>
                  <a:schemeClr val="tx2">
                    <a:lumMod val="50000"/>
                  </a:schemeClr>
                </a:solidFill>
                <a:latin typeface="+mn-ea"/>
                <a:cs typeface="Calibri" pitchFamily="34" charset="-120"/>
              </a:rPr>
              <a:t>、</a:t>
            </a:r>
            <a:r>
              <a:rPr lang="en-US" altLang="zh-TW" sz="1250" dirty="0">
                <a:solidFill>
                  <a:schemeClr val="tx2">
                    <a:lumMod val="50000"/>
                  </a:schemeClr>
                </a:solidFill>
                <a:latin typeface="+mn-ea"/>
                <a:cs typeface="Calibri" pitchFamily="34" charset="-120"/>
              </a:rPr>
              <a:t>Line</a:t>
            </a:r>
          </a:p>
        </p:txBody>
      </p:sp>
      <p:sp>
        <p:nvSpPr>
          <p:cNvPr id="36" name="Shape 26"/>
          <p:cNvSpPr/>
          <p:nvPr/>
        </p:nvSpPr>
        <p:spPr>
          <a:xfrm>
            <a:off x="5989320" y="4791456"/>
            <a:ext cx="5623560" cy="0"/>
          </a:xfrm>
          <a:prstGeom prst="line">
            <a:avLst/>
          </a:prstGeom>
          <a:noFill/>
          <a:ln w="12700">
            <a:solidFill>
              <a:srgbClr val="CADCFC"/>
            </a:solidFill>
            <a:prstDash val="solid"/>
          </a:ln>
        </p:spPr>
      </p:sp>
      <p:sp>
        <p:nvSpPr>
          <p:cNvPr id="37" name="Text 27"/>
          <p:cNvSpPr/>
          <p:nvPr/>
        </p:nvSpPr>
        <p:spPr>
          <a:xfrm>
            <a:off x="5989320" y="4992624"/>
            <a:ext cx="5623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 err="1">
                <a:solidFill>
                  <a:srgbClr val="1E2761"/>
                </a:solidFill>
                <a:latin typeface="+mn-ea"/>
                <a:cs typeface="Cambria" pitchFamily="34" charset="-120"/>
              </a:rPr>
              <a:t>什麼是提示詞工程</a:t>
            </a:r>
            <a:r>
              <a:rPr lang="en-US" sz="1700" b="1" dirty="0">
                <a:solidFill>
                  <a:srgbClr val="1E2761"/>
                </a:solidFill>
                <a:latin typeface="+mn-ea"/>
                <a:cs typeface="Cambria" pitchFamily="34" charset="-120"/>
              </a:rPr>
              <a:t>(Prompt Engineering)？</a:t>
            </a:r>
            <a:endParaRPr lang="en-US" sz="1700" dirty="0">
              <a:latin typeface="+mn-ea"/>
            </a:endParaRPr>
          </a:p>
        </p:txBody>
      </p:sp>
      <p:sp>
        <p:nvSpPr>
          <p:cNvPr id="38" name="Text 28"/>
          <p:cNvSpPr/>
          <p:nvPr/>
        </p:nvSpPr>
        <p:spPr>
          <a:xfrm>
            <a:off x="5989319" y="5394960"/>
            <a:ext cx="581215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333333"/>
                </a:solidFill>
                <a:latin typeface="+mn-ea"/>
                <a:cs typeface="Calibri" pitchFamily="34" charset="-120"/>
              </a:rPr>
              <a:t>把給 AI </a:t>
            </a:r>
            <a:r>
              <a:rPr lang="en-US" sz="1300" dirty="0" err="1">
                <a:solidFill>
                  <a:srgbClr val="333333"/>
                </a:solidFill>
                <a:latin typeface="+mn-ea"/>
                <a:cs typeface="Calibri" pitchFamily="34" charset="-120"/>
              </a:rPr>
              <a:t>的指令設計清楚</a:t>
            </a:r>
            <a:r>
              <a:rPr lang="en-US" sz="1300" dirty="0">
                <a:solidFill>
                  <a:srgbClr val="333333"/>
                </a:solidFill>
                <a:latin typeface="+mn-ea"/>
                <a:cs typeface="Calibri" pitchFamily="34" charset="-120"/>
              </a:rPr>
              <a:t>、</a:t>
            </a:r>
            <a:r>
              <a:rPr lang="zh-TW" altLang="en-US" sz="1300" dirty="0">
                <a:solidFill>
                  <a:srgbClr val="333333"/>
                </a:solidFill>
                <a:latin typeface="+mn-ea"/>
                <a:cs typeface="Calibri" pitchFamily="34" charset="-120"/>
              </a:rPr>
              <a:t>思考路線、</a:t>
            </a:r>
            <a:r>
              <a:rPr lang="en-US" sz="1300" dirty="0" err="1">
                <a:solidFill>
                  <a:srgbClr val="333333"/>
                </a:solidFill>
                <a:latin typeface="+mn-ea"/>
                <a:cs typeface="Calibri" pitchFamily="34" charset="-120"/>
              </a:rPr>
              <a:t>格式固定，讓輸出穩定、不容易亂講話</a:t>
            </a:r>
            <a:r>
              <a:rPr lang="en-US" sz="1300" dirty="0">
                <a:solidFill>
                  <a:srgbClr val="333333"/>
                </a:solidFill>
                <a:latin typeface="+mn-ea"/>
                <a:cs typeface="Calibri" pitchFamily="34" charset="-120"/>
              </a:rPr>
              <a:t>。</a:t>
            </a:r>
            <a:endParaRPr lang="en-US" sz="1300" dirty="0">
              <a:latin typeface="+mn-ea"/>
            </a:endParaRPr>
          </a:p>
        </p:txBody>
      </p:sp>
      <p:sp>
        <p:nvSpPr>
          <p:cNvPr id="39" name="Text 29"/>
          <p:cNvSpPr/>
          <p:nvPr/>
        </p:nvSpPr>
        <p:spPr>
          <a:xfrm>
            <a:off x="5989320" y="5742431"/>
            <a:ext cx="5623560" cy="10241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 err="1">
                <a:solidFill>
                  <a:srgbClr val="5B6B8C"/>
                </a:solidFill>
                <a:latin typeface="+mn-ea"/>
                <a:cs typeface="Calibri" pitchFamily="34" charset="-120"/>
              </a:rPr>
              <a:t>例如</a:t>
            </a:r>
            <a:r>
              <a:rPr lang="en-US" sz="1200" i="1" dirty="0">
                <a:solidFill>
                  <a:srgbClr val="5B6B8C"/>
                </a:solidFill>
                <a:latin typeface="+mn-ea"/>
                <a:cs typeface="Calibri" pitchFamily="34" charset="-120"/>
              </a:rPr>
              <a:t>：</a:t>
            </a:r>
          </a:p>
          <a:p>
            <a:pPr marL="171450" indent="-171450">
              <a:buFontTx/>
              <a:buChar char="-"/>
            </a:pPr>
            <a:r>
              <a:rPr lang="en-US" altLang="zh-TW" sz="1200" i="1" dirty="0">
                <a:solidFill>
                  <a:srgbClr val="5B6B8C"/>
                </a:solidFill>
                <a:latin typeface="+mn-ea"/>
                <a:cs typeface="Calibri" pitchFamily="34" charset="-120"/>
              </a:rPr>
              <a:t>LLM</a:t>
            </a:r>
            <a:r>
              <a:rPr lang="zh-TW" altLang="en-US" sz="1200" i="1" dirty="0">
                <a:solidFill>
                  <a:srgbClr val="5B6B8C"/>
                </a:solidFill>
                <a:latin typeface="+mn-ea"/>
                <a:cs typeface="Calibri" pitchFamily="34" charset="-120"/>
              </a:rPr>
              <a:t>對於價格區間的判定像是交易員的思考過程</a:t>
            </a:r>
            <a:r>
              <a:rPr lang="en-US" altLang="zh-TW" sz="1200" i="1" dirty="0">
                <a:solidFill>
                  <a:srgbClr val="5B6B8C"/>
                </a:solidFill>
                <a:latin typeface="+mn-ea"/>
                <a:cs typeface="Calibri" pitchFamily="34" charset="-120"/>
              </a:rPr>
              <a:t>(Reasoning)</a:t>
            </a:r>
            <a:r>
              <a:rPr lang="zh-TW" altLang="en-US" sz="1200" i="1" dirty="0">
                <a:solidFill>
                  <a:srgbClr val="5B6B8C"/>
                </a:solidFill>
                <a:latin typeface="+mn-ea"/>
                <a:cs typeface="Calibri" pitchFamily="34" charset="-120"/>
              </a:rPr>
              <a:t>，從月線、週線、日線，阻力、支撐去層層思索，再結合抓取的市場情緒，去作出判斷預測。</a:t>
            </a:r>
            <a:endParaRPr lang="en-US" altLang="zh-TW" sz="1200" i="1" dirty="0">
              <a:solidFill>
                <a:srgbClr val="5B6B8C"/>
              </a:solidFill>
              <a:latin typeface="+mn-ea"/>
              <a:cs typeface="Calibri" pitchFamily="34" charset="-120"/>
            </a:endParaRPr>
          </a:p>
          <a:p>
            <a:endParaRPr lang="en-US" altLang="zh-TW" sz="1200" i="1" dirty="0">
              <a:solidFill>
                <a:srgbClr val="5B6B8C"/>
              </a:solidFill>
              <a:latin typeface="+mn-ea"/>
              <a:cs typeface="Calibri" pitchFamily="34" charset="-120"/>
            </a:endParaRPr>
          </a:p>
          <a:p>
            <a:pPr marL="171450" indent="-171450">
              <a:buFontTx/>
              <a:buChar char="-"/>
            </a:pPr>
            <a:r>
              <a:rPr lang="zh-TW" altLang="en-US" sz="1200" i="1" dirty="0">
                <a:solidFill>
                  <a:srgbClr val="5B6B8C"/>
                </a:solidFill>
                <a:latin typeface="+mn-ea"/>
                <a:cs typeface="Calibri" pitchFamily="34" charset="-120"/>
              </a:rPr>
              <a:t>提示詞也明確沒有來源的資料會被過濾掉，可以減少新聞資料幻覺</a:t>
            </a:r>
            <a:endParaRPr lang="en-US" altLang="zh-TW" sz="1200" i="1" dirty="0">
              <a:solidFill>
                <a:srgbClr val="5B6B8C"/>
              </a:solidFill>
              <a:latin typeface="+mn-ea"/>
              <a:cs typeface="Calibri" pitchFamily="34" charset="-120"/>
            </a:endParaRPr>
          </a:p>
        </p:txBody>
      </p:sp>
      <p:sp>
        <p:nvSpPr>
          <p:cNvPr id="40" name="Text 30"/>
          <p:cNvSpPr/>
          <p:nvPr/>
        </p:nvSpPr>
        <p:spPr>
          <a:xfrm>
            <a:off x="11475720" y="6446520"/>
            <a:ext cx="548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B8C"/>
                </a:solidFill>
                <a:latin typeface="+mn-ea"/>
                <a:cs typeface="Calibri" pitchFamily="34" charset="-120"/>
              </a:rPr>
              <a:t>01</a:t>
            </a:r>
            <a:endParaRPr lang="en-US" sz="1000" dirty="0">
              <a:latin typeface="+mn-ea"/>
            </a:endParaRPr>
          </a:p>
        </p:txBody>
      </p:sp>
      <p:sp>
        <p:nvSpPr>
          <p:cNvPr id="42" name="Text 19">
            <a:extLst>
              <a:ext uri="{FF2B5EF4-FFF2-40B4-BE49-F238E27FC236}">
                <a16:creationId xmlns:a16="http://schemas.microsoft.com/office/drawing/2014/main" id="{B3C31696-0C33-4A42-A025-62567171B707}"/>
              </a:ext>
            </a:extLst>
          </p:cNvPr>
          <p:cNvSpPr/>
          <p:nvPr/>
        </p:nvSpPr>
        <p:spPr>
          <a:xfrm>
            <a:off x="373176" y="1648460"/>
            <a:ext cx="3948263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zh-TW" altLang="en-US" sz="1900" b="1" dirty="0">
                <a:solidFill>
                  <a:srgbClr val="1E2761"/>
                </a:solidFill>
                <a:latin typeface="+mn-ea"/>
                <a:cs typeface="Cambria" pitchFamily="34" charset="-120"/>
              </a:rPr>
              <a:t>一般人用的</a:t>
            </a:r>
            <a:r>
              <a:rPr lang="en-US" altLang="zh-TW" sz="1900" b="1" dirty="0">
                <a:solidFill>
                  <a:srgbClr val="1E2761"/>
                </a:solidFill>
                <a:latin typeface="+mn-ea"/>
                <a:cs typeface="Cambria" pitchFamily="34" charset="-120"/>
              </a:rPr>
              <a:t>AI</a:t>
            </a:r>
            <a:r>
              <a:rPr lang="zh-TW" altLang="en-US" sz="1900" b="1" dirty="0">
                <a:solidFill>
                  <a:srgbClr val="1E2761"/>
                </a:solidFill>
                <a:latin typeface="+mn-ea"/>
                <a:cs typeface="Cambria" pitchFamily="34" charset="-120"/>
              </a:rPr>
              <a:t>基本就是聊天機器人</a:t>
            </a:r>
            <a:endParaRPr lang="en-US" altLang="zh-TW" sz="1900" dirty="0">
              <a:latin typeface="+mn-ea"/>
            </a:endParaRPr>
          </a:p>
        </p:txBody>
      </p:sp>
      <p:sp>
        <p:nvSpPr>
          <p:cNvPr id="44" name="Text 19">
            <a:extLst>
              <a:ext uri="{FF2B5EF4-FFF2-40B4-BE49-F238E27FC236}">
                <a16:creationId xmlns:a16="http://schemas.microsoft.com/office/drawing/2014/main" id="{D48C8FD3-16C7-479B-8A91-9442A7EC5547}"/>
              </a:ext>
            </a:extLst>
          </p:cNvPr>
          <p:cNvSpPr/>
          <p:nvPr/>
        </p:nvSpPr>
        <p:spPr>
          <a:xfrm>
            <a:off x="373177" y="2873756"/>
            <a:ext cx="376116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zh-TW" altLang="en-US" sz="1900" b="1" dirty="0">
                <a:solidFill>
                  <a:srgbClr val="1E2761"/>
                </a:solidFill>
                <a:latin typeface="+mn-ea"/>
              </a:rPr>
              <a:t>專業人用的</a:t>
            </a:r>
            <a:r>
              <a:rPr lang="en-US" altLang="zh-TW" sz="1900" b="1" dirty="0">
                <a:solidFill>
                  <a:srgbClr val="1E2761"/>
                </a:solidFill>
                <a:latin typeface="+mn-ea"/>
              </a:rPr>
              <a:t>AI</a:t>
            </a:r>
            <a:r>
              <a:rPr lang="zh-TW" altLang="en-US" sz="1900" b="1" dirty="0">
                <a:solidFill>
                  <a:srgbClr val="1E2761"/>
                </a:solidFill>
                <a:latin typeface="+mn-ea"/>
              </a:rPr>
              <a:t>則是自動化工作流程</a:t>
            </a:r>
            <a:endParaRPr lang="en-US" altLang="zh-TW" sz="1900" dirty="0">
              <a:latin typeface="+mn-ea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607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1E2761"/>
                </a:solidFill>
                <a:latin typeface="+mn-ea"/>
                <a:cs typeface="Cambria" pitchFamily="34" charset="-120"/>
              </a:rPr>
              <a:t>晨報如何自動誕生</a:t>
            </a:r>
            <a:endParaRPr lang="en-US" sz="3400" dirty="0">
              <a:latin typeface="+mn-ea"/>
            </a:endParaRPr>
          </a:p>
        </p:txBody>
      </p:sp>
      <p:sp>
        <p:nvSpPr>
          <p:cNvPr id="3" name="Text 1"/>
          <p:cNvSpPr/>
          <p:nvPr/>
        </p:nvSpPr>
        <p:spPr>
          <a:xfrm>
            <a:off x="548640" y="987552"/>
            <a:ext cx="10607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chemeClr val="tx2"/>
                </a:solidFill>
                <a:latin typeface="+mn-ea"/>
                <a:cs typeface="Calibri" pitchFamily="34" charset="-120"/>
              </a:rPr>
              <a:t>從資料蒐集到送達信箱與 LINE，</a:t>
            </a:r>
            <a:r>
              <a:rPr lang="en-US" sz="1400" dirty="0">
                <a:solidFill>
                  <a:srgbClr val="C00000"/>
                </a:solidFill>
                <a:latin typeface="+mn-ea"/>
                <a:cs typeface="Calibri" pitchFamily="34" charset="-120"/>
              </a:rPr>
              <a:t>全程無人工介入</a:t>
            </a:r>
            <a:endParaRPr lang="en-US" sz="1400" dirty="0">
              <a:solidFill>
                <a:srgbClr val="C00000"/>
              </a:solidFill>
              <a:latin typeface="+mn-ea"/>
            </a:endParaRPr>
          </a:p>
        </p:txBody>
      </p:sp>
      <p:sp>
        <p:nvSpPr>
          <p:cNvPr id="4" name="Shape 2"/>
          <p:cNvSpPr/>
          <p:nvPr/>
        </p:nvSpPr>
        <p:spPr>
          <a:xfrm>
            <a:off x="475488" y="1627632"/>
            <a:ext cx="5568696" cy="2688336"/>
          </a:xfrm>
          <a:prstGeom prst="roundRect">
            <a:avLst>
              <a:gd name="adj" fmla="val 4082"/>
            </a:avLst>
          </a:prstGeom>
          <a:solidFill>
            <a:schemeClr val="accent1">
              <a:lumMod val="20000"/>
              <a:lumOff val="80000"/>
            </a:schemeClr>
          </a:solidFill>
          <a:ln w="15875">
            <a:solidFill>
              <a:srgbClr val="CADCFC"/>
            </a:solidFill>
            <a:prstDash val="dash"/>
          </a:ln>
        </p:spPr>
      </p:sp>
      <p:sp>
        <p:nvSpPr>
          <p:cNvPr id="7" name="Shape 4"/>
          <p:cNvSpPr/>
          <p:nvPr/>
        </p:nvSpPr>
        <p:spPr>
          <a:xfrm>
            <a:off x="676656" y="1828800"/>
            <a:ext cx="2331720" cy="2286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9050">
            <a:solidFill>
              <a:srgbClr val="CADCFC"/>
            </a:solidFill>
            <a:prstDash val="solid"/>
          </a:ln>
          <a:effectLst>
            <a:outerShdw blurRad="101600" dist="25400" dir="5400000" algn="bl" rotWithShape="0">
              <a:srgbClr val="1E2761">
                <a:alpha val="12000"/>
              </a:srgbClr>
            </a:outerShdw>
          </a:effectLst>
        </p:spPr>
      </p:sp>
      <p:sp>
        <p:nvSpPr>
          <p:cNvPr id="8" name="Shape 5"/>
          <p:cNvSpPr/>
          <p:nvPr/>
        </p:nvSpPr>
        <p:spPr>
          <a:xfrm>
            <a:off x="1458468" y="2121408"/>
            <a:ext cx="768096" cy="768096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9" name="Image 1" descr="/home/claude/deck/icons/search_w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23060" y="2286000"/>
            <a:ext cx="438912" cy="438912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768096" y="2999232"/>
            <a:ext cx="2148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E2761"/>
                </a:solidFill>
                <a:latin typeface="+mn-ea"/>
                <a:cs typeface="Calibri" pitchFamily="34" charset="-120"/>
              </a:rPr>
              <a:t>資料蒐集</a:t>
            </a:r>
            <a:endParaRPr lang="en-US" sz="1500" dirty="0">
              <a:latin typeface="+mn-ea"/>
            </a:endParaRPr>
          </a:p>
        </p:txBody>
      </p:sp>
      <p:sp>
        <p:nvSpPr>
          <p:cNvPr id="11" name="Text 7"/>
          <p:cNvSpPr/>
          <p:nvPr/>
        </p:nvSpPr>
        <p:spPr>
          <a:xfrm>
            <a:off x="813816" y="3364992"/>
            <a:ext cx="2057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altLang="zh-TW" sz="1400" dirty="0">
                <a:solidFill>
                  <a:schemeClr val="tx2"/>
                </a:solidFill>
                <a:latin typeface="+mn-ea"/>
                <a:cs typeface="Calibri" pitchFamily="34" charset="-120"/>
              </a:rPr>
              <a:t>Python</a:t>
            </a:r>
            <a:r>
              <a:rPr lang="zh-TW" altLang="en-US" sz="1400" dirty="0">
                <a:solidFill>
                  <a:schemeClr val="tx2"/>
                </a:solidFill>
                <a:latin typeface="+mn-ea"/>
                <a:cs typeface="Calibri" pitchFamily="34" charset="-120"/>
              </a:rPr>
              <a:t>抓匯</a:t>
            </a:r>
            <a:r>
              <a:rPr lang="en-US" sz="1400" dirty="0" err="1">
                <a:solidFill>
                  <a:schemeClr val="tx2"/>
                </a:solidFill>
                <a:latin typeface="+mn-ea"/>
                <a:cs typeface="Calibri" pitchFamily="34" charset="-120"/>
              </a:rPr>
              <a:t>價、新聞、經濟日曆、總經頭條</a:t>
            </a:r>
            <a:endParaRPr lang="en-US" sz="1400" dirty="0">
              <a:solidFill>
                <a:schemeClr val="tx2"/>
              </a:solidFill>
              <a:latin typeface="+mn-ea"/>
            </a:endParaRPr>
          </a:p>
        </p:txBody>
      </p:sp>
      <p:sp>
        <p:nvSpPr>
          <p:cNvPr id="12" name="Shape 8"/>
          <p:cNvSpPr/>
          <p:nvPr/>
        </p:nvSpPr>
        <p:spPr>
          <a:xfrm>
            <a:off x="749808" y="1901952"/>
            <a:ext cx="274320" cy="27432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3" name="Text 9"/>
          <p:cNvSpPr/>
          <p:nvPr/>
        </p:nvSpPr>
        <p:spPr>
          <a:xfrm>
            <a:off x="749808" y="1901952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+mn-ea"/>
                <a:cs typeface="Calibri" pitchFamily="34" charset="-120"/>
              </a:rPr>
              <a:t>1</a:t>
            </a:r>
            <a:endParaRPr lang="en-US" sz="1150" dirty="0">
              <a:latin typeface="+mn-ea"/>
            </a:endParaRPr>
          </a:p>
        </p:txBody>
      </p:sp>
      <p:pic>
        <p:nvPicPr>
          <p:cNvPr id="14" name="Image 2" descr="/home/claude/deck/icons/arrow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131820" y="2843784"/>
            <a:ext cx="256032" cy="256032"/>
          </a:xfrm>
          <a:prstGeom prst="rect">
            <a:avLst/>
          </a:prstGeom>
        </p:spPr>
      </p:pic>
      <p:sp>
        <p:nvSpPr>
          <p:cNvPr id="15" name="Shape 10"/>
          <p:cNvSpPr/>
          <p:nvPr/>
        </p:nvSpPr>
        <p:spPr>
          <a:xfrm>
            <a:off x="3511296" y="1828800"/>
            <a:ext cx="2331720" cy="2286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9050">
            <a:solidFill>
              <a:srgbClr val="CADCFC"/>
            </a:solidFill>
            <a:prstDash val="solid"/>
          </a:ln>
          <a:effectLst>
            <a:outerShdw blurRad="101600" dist="25400" dir="5400000" algn="bl" rotWithShape="0">
              <a:srgbClr val="1E2761">
                <a:alpha val="12000"/>
              </a:srgbClr>
            </a:outerShdw>
          </a:effectLst>
        </p:spPr>
      </p:sp>
      <p:sp>
        <p:nvSpPr>
          <p:cNvPr id="16" name="Shape 11"/>
          <p:cNvSpPr/>
          <p:nvPr/>
        </p:nvSpPr>
        <p:spPr>
          <a:xfrm>
            <a:off x="4293108" y="2121408"/>
            <a:ext cx="768096" cy="768096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17" name="Image 3" descr="/home/claude/deck/icons/check_w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457700" y="2286000"/>
            <a:ext cx="438912" cy="438912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3602736" y="2999232"/>
            <a:ext cx="2148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E2761"/>
                </a:solidFill>
                <a:latin typeface="+mn-ea"/>
                <a:cs typeface="Calibri" pitchFamily="34" charset="-120"/>
              </a:rPr>
              <a:t>彙整驗證</a:t>
            </a:r>
            <a:endParaRPr lang="en-US" sz="1500" dirty="0">
              <a:latin typeface="+mn-ea"/>
            </a:endParaRPr>
          </a:p>
        </p:txBody>
      </p:sp>
      <p:sp>
        <p:nvSpPr>
          <p:cNvPr id="19" name="Text 13"/>
          <p:cNvSpPr/>
          <p:nvPr/>
        </p:nvSpPr>
        <p:spPr>
          <a:xfrm>
            <a:off x="3648456" y="3364992"/>
            <a:ext cx="2057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sz="1400" dirty="0" err="1">
                <a:solidFill>
                  <a:schemeClr val="tx2"/>
                </a:solidFill>
                <a:latin typeface="+mn-ea"/>
                <a:cs typeface="Calibri" pitchFamily="34" charset="-120"/>
              </a:rPr>
              <a:t>程式碼核對數字</a:t>
            </a:r>
            <a:r>
              <a:rPr lang="en-US" sz="1400" dirty="0">
                <a:solidFill>
                  <a:schemeClr val="tx2"/>
                </a:solidFill>
                <a:latin typeface="+mn-ea"/>
                <a:cs typeface="Calibri" pitchFamily="34" charset="-120"/>
              </a:rPr>
              <a:t>、</a:t>
            </a:r>
            <a:endParaRPr lang="en-US" sz="1400" dirty="0">
              <a:solidFill>
                <a:schemeClr val="tx2"/>
              </a:solidFill>
              <a:latin typeface="+mn-ea"/>
            </a:endParaRPr>
          </a:p>
          <a:p>
            <a:pPr marL="0" indent="0" algn="ctr">
              <a:lnSpc>
                <a:spcPct val="115000"/>
              </a:lnSpc>
              <a:buNone/>
            </a:pPr>
            <a:r>
              <a:rPr lang="en-US" sz="1400" dirty="0">
                <a:solidFill>
                  <a:schemeClr val="tx2"/>
                </a:solidFill>
                <a:latin typeface="+mn-ea"/>
                <a:cs typeface="Calibri" pitchFamily="34" charset="-120"/>
              </a:rPr>
              <a:t>來源與日期</a:t>
            </a:r>
            <a:endParaRPr lang="en-US" sz="1050" dirty="0">
              <a:solidFill>
                <a:schemeClr val="tx2"/>
              </a:solidFill>
              <a:latin typeface="+mn-ea"/>
            </a:endParaRPr>
          </a:p>
        </p:txBody>
      </p:sp>
      <p:sp>
        <p:nvSpPr>
          <p:cNvPr id="20" name="Shape 14"/>
          <p:cNvSpPr/>
          <p:nvPr/>
        </p:nvSpPr>
        <p:spPr>
          <a:xfrm>
            <a:off x="3584448" y="1901952"/>
            <a:ext cx="274320" cy="27432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21" name="Text 15"/>
          <p:cNvSpPr/>
          <p:nvPr/>
        </p:nvSpPr>
        <p:spPr>
          <a:xfrm>
            <a:off x="3584448" y="1901952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+mn-ea"/>
                <a:cs typeface="Calibri" pitchFamily="34" charset="-120"/>
              </a:rPr>
              <a:t>2</a:t>
            </a:r>
            <a:endParaRPr lang="en-US" sz="1150" dirty="0">
              <a:latin typeface="+mn-ea"/>
            </a:endParaRPr>
          </a:p>
        </p:txBody>
      </p:sp>
      <p:pic>
        <p:nvPicPr>
          <p:cNvPr id="22" name="Image 4" descr="/home/claude/deck/icons/arrow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66460" y="2843784"/>
            <a:ext cx="256032" cy="256032"/>
          </a:xfrm>
          <a:prstGeom prst="rect">
            <a:avLst/>
          </a:prstGeom>
        </p:spPr>
      </p:pic>
      <p:sp>
        <p:nvSpPr>
          <p:cNvPr id="23" name="Shape 16"/>
          <p:cNvSpPr/>
          <p:nvPr/>
        </p:nvSpPr>
        <p:spPr>
          <a:xfrm>
            <a:off x="6345936" y="1828800"/>
            <a:ext cx="2331720" cy="2286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9050">
            <a:solidFill>
              <a:srgbClr val="CADCFC"/>
            </a:solidFill>
            <a:prstDash val="solid"/>
          </a:ln>
          <a:effectLst>
            <a:outerShdw blurRad="101600" dist="25400" dir="5400000" algn="bl" rotWithShape="0">
              <a:srgbClr val="1E2761">
                <a:alpha val="12000"/>
              </a:srgbClr>
            </a:outerShdw>
          </a:effectLst>
        </p:spPr>
      </p:sp>
      <p:sp>
        <p:nvSpPr>
          <p:cNvPr id="24" name="Shape 17"/>
          <p:cNvSpPr/>
          <p:nvPr/>
        </p:nvSpPr>
        <p:spPr>
          <a:xfrm>
            <a:off x="7127748" y="2121408"/>
            <a:ext cx="768096" cy="768096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25" name="Image 5" descr="/home/claude/deck/icons/brain_w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292340" y="2286000"/>
            <a:ext cx="438912" cy="438912"/>
          </a:xfrm>
          <a:prstGeom prst="rect">
            <a:avLst/>
          </a:prstGeom>
        </p:spPr>
      </p:pic>
      <p:sp>
        <p:nvSpPr>
          <p:cNvPr id="26" name="Text 18"/>
          <p:cNvSpPr/>
          <p:nvPr/>
        </p:nvSpPr>
        <p:spPr>
          <a:xfrm>
            <a:off x="6437376" y="2999232"/>
            <a:ext cx="2148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E2761"/>
                </a:solidFill>
                <a:latin typeface="+mn-ea"/>
                <a:cs typeface="Calibri" pitchFamily="34" charset="-120"/>
              </a:rPr>
              <a:t>LLM 生成</a:t>
            </a:r>
            <a:endParaRPr lang="en-US" sz="1500" dirty="0">
              <a:latin typeface="+mn-ea"/>
            </a:endParaRPr>
          </a:p>
        </p:txBody>
      </p:sp>
      <p:sp>
        <p:nvSpPr>
          <p:cNvPr id="27" name="Text 19"/>
          <p:cNvSpPr/>
          <p:nvPr/>
        </p:nvSpPr>
        <p:spPr>
          <a:xfrm>
            <a:off x="6483096" y="3364992"/>
            <a:ext cx="2057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sz="1400" dirty="0">
                <a:solidFill>
                  <a:schemeClr val="tx2"/>
                </a:solidFill>
                <a:latin typeface="+mn-ea"/>
                <a:cs typeface="Calibri" pitchFamily="34" charset="-120"/>
              </a:rPr>
              <a:t>Claude </a:t>
            </a:r>
            <a:r>
              <a:rPr lang="en-US" sz="1400" dirty="0" err="1">
                <a:solidFill>
                  <a:schemeClr val="tx2"/>
                </a:solidFill>
                <a:latin typeface="+mn-ea"/>
                <a:cs typeface="Calibri" pitchFamily="34" charset="-120"/>
              </a:rPr>
              <a:t>依分析框架</a:t>
            </a:r>
            <a:r>
              <a:rPr lang="en-US" altLang="zh-TW" sz="1400" dirty="0">
                <a:solidFill>
                  <a:schemeClr val="tx2"/>
                </a:solidFill>
                <a:latin typeface="+mn-ea"/>
                <a:cs typeface="Calibri" pitchFamily="34" charset="-120"/>
              </a:rPr>
              <a:t>(</a:t>
            </a:r>
            <a:r>
              <a:rPr lang="zh-TW" altLang="en-US" sz="1400" dirty="0">
                <a:solidFill>
                  <a:schemeClr val="tx2"/>
                </a:solidFill>
                <a:latin typeface="+mn-ea"/>
                <a:cs typeface="Calibri" pitchFamily="34" charset="-120"/>
              </a:rPr>
              <a:t>提示詞與</a:t>
            </a:r>
            <a:r>
              <a:rPr lang="en-US" altLang="zh-TW" sz="1400" dirty="0" err="1">
                <a:solidFill>
                  <a:schemeClr val="tx2"/>
                </a:solidFill>
                <a:latin typeface="+mn-ea"/>
                <a:cs typeface="Calibri" pitchFamily="34" charset="-120"/>
              </a:rPr>
              <a:t>Pthon</a:t>
            </a:r>
            <a:r>
              <a:rPr lang="zh-TW" altLang="en-US" sz="1400" dirty="0">
                <a:solidFill>
                  <a:schemeClr val="tx2"/>
                </a:solidFill>
                <a:latin typeface="+mn-ea"/>
                <a:cs typeface="Calibri" pitchFamily="34" charset="-120"/>
              </a:rPr>
              <a:t>規則</a:t>
            </a:r>
            <a:r>
              <a:rPr lang="en-US" altLang="zh-TW" sz="1400" dirty="0">
                <a:solidFill>
                  <a:schemeClr val="tx2"/>
                </a:solidFill>
                <a:latin typeface="+mn-ea"/>
                <a:cs typeface="Calibri" pitchFamily="34" charset="-120"/>
              </a:rPr>
              <a:t>)</a:t>
            </a:r>
            <a:r>
              <a:rPr lang="en-US" sz="1400" dirty="0" err="1">
                <a:solidFill>
                  <a:schemeClr val="tx2"/>
                </a:solidFill>
                <a:latin typeface="+mn-ea"/>
                <a:cs typeface="Calibri" pitchFamily="34" charset="-120"/>
              </a:rPr>
              <a:t>撰寫晨報</a:t>
            </a:r>
            <a:endParaRPr lang="en-US" sz="1400" dirty="0">
              <a:solidFill>
                <a:schemeClr val="tx2"/>
              </a:solidFill>
              <a:latin typeface="+mn-ea"/>
            </a:endParaRPr>
          </a:p>
        </p:txBody>
      </p:sp>
      <p:sp>
        <p:nvSpPr>
          <p:cNvPr id="28" name="Shape 20"/>
          <p:cNvSpPr/>
          <p:nvPr/>
        </p:nvSpPr>
        <p:spPr>
          <a:xfrm>
            <a:off x="6419088" y="1901952"/>
            <a:ext cx="274320" cy="274320"/>
          </a:xfrm>
          <a:prstGeom prst="ellipse">
            <a:avLst/>
          </a:prstGeom>
          <a:solidFill>
            <a:srgbClr val="CADCFC"/>
          </a:solidFill>
          <a:ln/>
        </p:spPr>
      </p:sp>
      <p:sp>
        <p:nvSpPr>
          <p:cNvPr id="29" name="Text 21"/>
          <p:cNvSpPr/>
          <p:nvPr/>
        </p:nvSpPr>
        <p:spPr>
          <a:xfrm>
            <a:off x="6419088" y="1901952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1E2761"/>
                </a:solidFill>
                <a:latin typeface="+mn-ea"/>
                <a:cs typeface="Calibri" pitchFamily="34" charset="-120"/>
              </a:rPr>
              <a:t>3</a:t>
            </a:r>
            <a:endParaRPr lang="en-US" sz="1150" dirty="0">
              <a:latin typeface="+mn-ea"/>
            </a:endParaRPr>
          </a:p>
        </p:txBody>
      </p:sp>
      <p:pic>
        <p:nvPicPr>
          <p:cNvPr id="30" name="Image 6" descr="/home/claude/deck/icons/arrow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801100" y="2843784"/>
            <a:ext cx="256032" cy="256032"/>
          </a:xfrm>
          <a:prstGeom prst="rect">
            <a:avLst/>
          </a:prstGeom>
        </p:spPr>
      </p:pic>
      <p:sp>
        <p:nvSpPr>
          <p:cNvPr id="31" name="Shape 22"/>
          <p:cNvSpPr/>
          <p:nvPr/>
        </p:nvSpPr>
        <p:spPr>
          <a:xfrm>
            <a:off x="9180576" y="1828800"/>
            <a:ext cx="2331720" cy="2286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9050">
            <a:solidFill>
              <a:srgbClr val="CADCFC"/>
            </a:solidFill>
            <a:prstDash val="solid"/>
          </a:ln>
          <a:effectLst>
            <a:outerShdw blurRad="101600" dist="25400" dir="5400000" algn="bl" rotWithShape="0">
              <a:srgbClr val="1E2761">
                <a:alpha val="12000"/>
              </a:srgbClr>
            </a:outerShdw>
          </a:effectLst>
        </p:spPr>
      </p:sp>
      <p:sp>
        <p:nvSpPr>
          <p:cNvPr id="32" name="Shape 23"/>
          <p:cNvSpPr/>
          <p:nvPr/>
        </p:nvSpPr>
        <p:spPr>
          <a:xfrm>
            <a:off x="9962388" y="2121408"/>
            <a:ext cx="768096" cy="768096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33" name="Image 7" descr="/home/claude/deck/icons/paperplane_w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126980" y="2286000"/>
            <a:ext cx="438912" cy="438912"/>
          </a:xfrm>
          <a:prstGeom prst="rect">
            <a:avLst/>
          </a:prstGeom>
        </p:spPr>
      </p:pic>
      <p:sp>
        <p:nvSpPr>
          <p:cNvPr id="34" name="Text 24"/>
          <p:cNvSpPr/>
          <p:nvPr/>
        </p:nvSpPr>
        <p:spPr>
          <a:xfrm>
            <a:off x="9272016" y="2999232"/>
            <a:ext cx="2148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E2761"/>
                </a:solidFill>
                <a:latin typeface="+mn-ea"/>
                <a:cs typeface="Calibri" pitchFamily="34" charset="-120"/>
              </a:rPr>
              <a:t>自動送達</a:t>
            </a:r>
            <a:endParaRPr lang="en-US" sz="1500" dirty="0">
              <a:latin typeface="+mn-ea"/>
            </a:endParaRPr>
          </a:p>
        </p:txBody>
      </p:sp>
      <p:sp>
        <p:nvSpPr>
          <p:cNvPr id="35" name="Text 25"/>
          <p:cNvSpPr/>
          <p:nvPr/>
        </p:nvSpPr>
        <p:spPr>
          <a:xfrm>
            <a:off x="9317736" y="3364992"/>
            <a:ext cx="2057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sz="1400" dirty="0" err="1">
                <a:solidFill>
                  <a:schemeClr val="tx2"/>
                </a:solidFill>
                <a:latin typeface="+mn-ea"/>
                <a:cs typeface="Calibri" pitchFamily="34" charset="-120"/>
              </a:rPr>
              <a:t>Python組成內容並</a:t>
            </a:r>
            <a:endParaRPr lang="en-US" sz="1400" dirty="0">
              <a:solidFill>
                <a:schemeClr val="tx2"/>
              </a:solidFill>
              <a:latin typeface="+mn-ea"/>
            </a:endParaRPr>
          </a:p>
          <a:p>
            <a:pPr marL="0" indent="0" algn="ctr">
              <a:lnSpc>
                <a:spcPct val="115000"/>
              </a:lnSpc>
              <a:buNone/>
            </a:pPr>
            <a:r>
              <a:rPr lang="en-US" sz="1400" dirty="0" err="1">
                <a:solidFill>
                  <a:schemeClr val="tx2"/>
                </a:solidFill>
                <a:latin typeface="+mn-ea"/>
                <a:cs typeface="Calibri" pitchFamily="34" charset="-120"/>
              </a:rPr>
              <a:t>同步發送</a:t>
            </a:r>
            <a:endParaRPr lang="en-US" sz="1400" dirty="0">
              <a:solidFill>
                <a:schemeClr val="tx2"/>
              </a:solidFill>
              <a:latin typeface="+mn-ea"/>
            </a:endParaRPr>
          </a:p>
        </p:txBody>
      </p:sp>
      <p:sp>
        <p:nvSpPr>
          <p:cNvPr id="36" name="Shape 26"/>
          <p:cNvSpPr/>
          <p:nvPr/>
        </p:nvSpPr>
        <p:spPr>
          <a:xfrm>
            <a:off x="9253728" y="1901952"/>
            <a:ext cx="274320" cy="274320"/>
          </a:xfrm>
          <a:prstGeom prst="ellipse">
            <a:avLst/>
          </a:prstGeom>
          <a:solidFill>
            <a:srgbClr val="CADCFC"/>
          </a:solidFill>
          <a:ln/>
        </p:spPr>
      </p:sp>
      <p:sp>
        <p:nvSpPr>
          <p:cNvPr id="37" name="Text 27"/>
          <p:cNvSpPr/>
          <p:nvPr/>
        </p:nvSpPr>
        <p:spPr>
          <a:xfrm>
            <a:off x="9253728" y="1901952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1E2761"/>
                </a:solidFill>
                <a:latin typeface="+mn-ea"/>
                <a:cs typeface="Calibri" pitchFamily="34" charset="-120"/>
              </a:rPr>
              <a:t>4</a:t>
            </a:r>
            <a:endParaRPr lang="en-US" sz="1150" dirty="0">
              <a:latin typeface="+mn-ea"/>
            </a:endParaRPr>
          </a:p>
        </p:txBody>
      </p:sp>
      <p:sp>
        <p:nvSpPr>
          <p:cNvPr id="39" name="Shape 29"/>
          <p:cNvSpPr/>
          <p:nvPr/>
        </p:nvSpPr>
        <p:spPr>
          <a:xfrm>
            <a:off x="10346436" y="4133088"/>
            <a:ext cx="0" cy="320040"/>
          </a:xfrm>
          <a:prstGeom prst="line">
            <a:avLst/>
          </a:prstGeom>
          <a:noFill/>
          <a:ln w="19050">
            <a:solidFill>
              <a:srgbClr val="CADCFC"/>
            </a:solidFill>
            <a:prstDash val="solid"/>
          </a:ln>
        </p:spPr>
      </p:sp>
      <p:sp>
        <p:nvSpPr>
          <p:cNvPr id="40" name="Shape 30"/>
          <p:cNvSpPr/>
          <p:nvPr/>
        </p:nvSpPr>
        <p:spPr>
          <a:xfrm>
            <a:off x="9386316" y="4530090"/>
            <a:ext cx="640080" cy="457200"/>
          </a:xfrm>
          <a:prstGeom prst="roundRect">
            <a:avLst>
              <a:gd name="adj" fmla="val 50000"/>
            </a:avLst>
          </a:prstGeom>
          <a:solidFill>
            <a:srgbClr val="1E2761"/>
          </a:solidFill>
          <a:ln/>
        </p:spPr>
      </p:sp>
      <p:pic>
        <p:nvPicPr>
          <p:cNvPr id="41" name="Image 8" descr="/home/claude/deck/icons/envelope_w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560052" y="4621530"/>
            <a:ext cx="274320" cy="274320"/>
          </a:xfrm>
          <a:prstGeom prst="rect">
            <a:avLst/>
          </a:prstGeom>
        </p:spPr>
      </p:pic>
      <p:sp>
        <p:nvSpPr>
          <p:cNvPr id="42" name="Shape 31"/>
          <p:cNvSpPr/>
          <p:nvPr/>
        </p:nvSpPr>
        <p:spPr>
          <a:xfrm>
            <a:off x="10666476" y="4530090"/>
            <a:ext cx="640080" cy="457200"/>
          </a:xfrm>
          <a:prstGeom prst="roundRect">
            <a:avLst>
              <a:gd name="adj" fmla="val 50000"/>
            </a:avLst>
          </a:prstGeom>
          <a:solidFill>
            <a:srgbClr val="1E2761"/>
          </a:solidFill>
          <a:ln/>
        </p:spPr>
      </p:sp>
      <p:pic>
        <p:nvPicPr>
          <p:cNvPr id="43" name="Image 9" descr="/home/claude/deck/icons/line_w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0840212" y="4621530"/>
            <a:ext cx="274320" cy="274320"/>
          </a:xfrm>
          <a:prstGeom prst="rect">
            <a:avLst/>
          </a:prstGeom>
        </p:spPr>
      </p:pic>
      <p:sp>
        <p:nvSpPr>
          <p:cNvPr id="44" name="Text 32"/>
          <p:cNvSpPr/>
          <p:nvPr/>
        </p:nvSpPr>
        <p:spPr>
          <a:xfrm>
            <a:off x="9386316" y="5014722"/>
            <a:ext cx="640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5B6B8C"/>
                </a:solidFill>
                <a:latin typeface="+mn-ea"/>
                <a:cs typeface="Calibri" pitchFamily="34" charset="-120"/>
              </a:rPr>
              <a:t>Email</a:t>
            </a:r>
            <a:endParaRPr lang="en-US" sz="1000" dirty="0">
              <a:latin typeface="+mn-ea"/>
            </a:endParaRPr>
          </a:p>
        </p:txBody>
      </p:sp>
      <p:sp>
        <p:nvSpPr>
          <p:cNvPr id="45" name="Text 33"/>
          <p:cNvSpPr/>
          <p:nvPr/>
        </p:nvSpPr>
        <p:spPr>
          <a:xfrm>
            <a:off x="10666476" y="5014722"/>
            <a:ext cx="640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5B6B8C"/>
                </a:solidFill>
                <a:latin typeface="+mn-ea"/>
                <a:cs typeface="Calibri" pitchFamily="34" charset="-120"/>
              </a:rPr>
              <a:t>LINE</a:t>
            </a:r>
            <a:endParaRPr lang="en-US" sz="1000" dirty="0">
              <a:latin typeface="+mn-ea"/>
            </a:endParaRPr>
          </a:p>
        </p:txBody>
      </p:sp>
      <p:sp>
        <p:nvSpPr>
          <p:cNvPr id="46" name="Text 34"/>
          <p:cNvSpPr/>
          <p:nvPr/>
        </p:nvSpPr>
        <p:spPr>
          <a:xfrm>
            <a:off x="11475720" y="6446520"/>
            <a:ext cx="548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000" dirty="0"/>
          </a:p>
        </p:txBody>
      </p:sp>
      <p:sp>
        <p:nvSpPr>
          <p:cNvPr id="48" name="Text 21">
            <a:extLst>
              <a:ext uri="{FF2B5EF4-FFF2-40B4-BE49-F238E27FC236}">
                <a16:creationId xmlns:a16="http://schemas.microsoft.com/office/drawing/2014/main" id="{F512C673-75FA-47EB-B5A8-46767E4128CB}"/>
              </a:ext>
            </a:extLst>
          </p:cNvPr>
          <p:cNvSpPr/>
          <p:nvPr/>
        </p:nvSpPr>
        <p:spPr>
          <a:xfrm>
            <a:off x="676656" y="4644390"/>
            <a:ext cx="5166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zh-TW" altLang="en-US" sz="1250" dirty="0">
                <a:solidFill>
                  <a:srgbClr val="C00000"/>
                </a:solidFill>
                <a:latin typeface="+mn-ea"/>
                <a:cs typeface="Calibri" pitchFamily="34" charset="-120"/>
              </a:rPr>
              <a:t>這就是</a:t>
            </a:r>
            <a:r>
              <a:rPr lang="en-US" altLang="zh-TW" sz="1250" dirty="0">
                <a:solidFill>
                  <a:srgbClr val="C00000"/>
                </a:solidFill>
                <a:latin typeface="+mn-ea"/>
                <a:cs typeface="Calibri" pitchFamily="34" charset="-120"/>
              </a:rPr>
              <a:t>AI</a:t>
            </a:r>
            <a:r>
              <a:rPr lang="zh-TW" altLang="en-US" sz="1250" dirty="0">
                <a:solidFill>
                  <a:srgbClr val="C00000"/>
                </a:solidFill>
                <a:latin typeface="+mn-ea"/>
                <a:cs typeface="Calibri" pitchFamily="34" charset="-120"/>
              </a:rPr>
              <a:t>工作流程強大的地方，我們不需要打開</a:t>
            </a:r>
            <a:r>
              <a:rPr lang="en-US" altLang="zh-TW" sz="1250" dirty="0">
                <a:solidFill>
                  <a:srgbClr val="C00000"/>
                </a:solidFill>
                <a:latin typeface="+mn-ea"/>
                <a:cs typeface="Calibri" pitchFamily="34" charset="-120"/>
              </a:rPr>
              <a:t>Claude</a:t>
            </a:r>
            <a:r>
              <a:rPr lang="zh-TW" altLang="en-US" sz="1250" dirty="0">
                <a:solidFill>
                  <a:srgbClr val="C00000"/>
                </a:solidFill>
                <a:latin typeface="+mn-ea"/>
                <a:cs typeface="Calibri" pitchFamily="34" charset="-120"/>
              </a:rPr>
              <a:t>聊天機器人去人工下指令、餵資料，它</a:t>
            </a:r>
            <a:r>
              <a:rPr lang="en-US" altLang="zh-TW" sz="1250" dirty="0">
                <a:solidFill>
                  <a:srgbClr val="C00000"/>
                </a:solidFill>
                <a:latin typeface="+mn-ea"/>
                <a:cs typeface="Calibri" pitchFamily="34" charset="-120"/>
              </a:rPr>
              <a:t>(AI</a:t>
            </a:r>
            <a:r>
              <a:rPr lang="zh-TW" altLang="en-US" sz="1250" dirty="0">
                <a:solidFill>
                  <a:srgbClr val="C00000"/>
                </a:solidFill>
                <a:latin typeface="+mn-ea"/>
                <a:cs typeface="Calibri" pitchFamily="34" charset="-120"/>
              </a:rPr>
              <a:t> </a:t>
            </a:r>
            <a:r>
              <a:rPr lang="en-US" altLang="zh-TW" sz="1250" dirty="0">
                <a:solidFill>
                  <a:srgbClr val="C00000"/>
                </a:solidFill>
                <a:latin typeface="+mn-ea"/>
                <a:cs typeface="Calibri" pitchFamily="34" charset="-120"/>
              </a:rPr>
              <a:t>Agent)</a:t>
            </a:r>
            <a:r>
              <a:rPr lang="zh-TW" altLang="en-US" sz="1250" dirty="0">
                <a:solidFill>
                  <a:srgbClr val="C00000"/>
                </a:solidFill>
                <a:latin typeface="+mn-ea"/>
                <a:cs typeface="Calibri" pitchFamily="34" charset="-120"/>
              </a:rPr>
              <a:t>自己就會先去做這件事，</a:t>
            </a:r>
            <a:r>
              <a:rPr lang="zh-TW" altLang="en-US" sz="1250" b="1" dirty="0">
                <a:solidFill>
                  <a:srgbClr val="C00000"/>
                </a:solidFill>
                <a:latin typeface="+mn-ea"/>
                <a:cs typeface="Calibri" pitchFamily="34" charset="-120"/>
              </a:rPr>
              <a:t>完全自動化。</a:t>
            </a:r>
            <a:endParaRPr lang="en-US" sz="1250" b="1" dirty="0">
              <a:solidFill>
                <a:srgbClr val="C00000"/>
              </a:solidFill>
              <a:latin typeface="+mn-ea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607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1E2761"/>
                </a:solidFill>
                <a:latin typeface="+mn-ea"/>
                <a:cs typeface="Cambria" pitchFamily="34" charset="-120"/>
              </a:rPr>
              <a:t>自動化晨報的價值</a:t>
            </a:r>
            <a:endParaRPr lang="en-US" sz="3400" dirty="0">
              <a:latin typeface="+mn-ea"/>
            </a:endParaRPr>
          </a:p>
        </p:txBody>
      </p:sp>
      <p:sp>
        <p:nvSpPr>
          <p:cNvPr id="3" name="Text 1"/>
          <p:cNvSpPr/>
          <p:nvPr/>
        </p:nvSpPr>
        <p:spPr>
          <a:xfrm>
            <a:off x="548640" y="987552"/>
            <a:ext cx="10607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002060"/>
                </a:solidFill>
                <a:latin typeface="+mn-ea"/>
                <a:cs typeface="Calibri" pitchFamily="34" charset="-120"/>
              </a:rPr>
              <a:t>而且，這是用公開與免費資源就做到的</a:t>
            </a:r>
            <a:endParaRPr lang="en-US" sz="1400" dirty="0">
              <a:solidFill>
                <a:srgbClr val="002060"/>
              </a:solidFill>
              <a:latin typeface="+mn-ea"/>
            </a:endParaRPr>
          </a:p>
        </p:txBody>
      </p:sp>
      <p:sp>
        <p:nvSpPr>
          <p:cNvPr id="4" name="Shape 2"/>
          <p:cNvSpPr/>
          <p:nvPr/>
        </p:nvSpPr>
        <p:spPr>
          <a:xfrm>
            <a:off x="1933956" y="1783080"/>
            <a:ext cx="822960" cy="82296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5" name="Image 0" descr="/home/claude/deck/icons/bolt_w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07692" y="1956816"/>
            <a:ext cx="475488" cy="475488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699516" y="2743200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900" b="1" dirty="0">
                <a:solidFill>
                  <a:srgbClr val="1E2761"/>
                </a:solidFill>
                <a:latin typeface="+mn-ea"/>
                <a:cs typeface="Cambria" pitchFamily="34" charset="-120"/>
              </a:rPr>
              <a:t>自動化</a:t>
            </a:r>
            <a:endParaRPr lang="en-US" sz="1900" dirty="0">
              <a:latin typeface="+mn-ea"/>
            </a:endParaRPr>
          </a:p>
        </p:txBody>
      </p:sp>
      <p:sp>
        <p:nvSpPr>
          <p:cNvPr id="7" name="Text 4"/>
          <p:cNvSpPr/>
          <p:nvPr/>
        </p:nvSpPr>
        <p:spPr>
          <a:xfrm>
            <a:off x="699516" y="3136392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zh-TW" altLang="en-US" sz="1250" dirty="0">
                <a:solidFill>
                  <a:srgbClr val="333333"/>
                </a:solidFill>
                <a:latin typeface="+mn-ea"/>
                <a:cs typeface="Calibri" pitchFamily="34" charset="-120"/>
              </a:rPr>
              <a:t>自動彙整隔夜資訊，同事隔日上班前直接接收資訊</a:t>
            </a:r>
            <a:endParaRPr lang="en-US" sz="1250" dirty="0">
              <a:latin typeface="+mn-ea"/>
            </a:endParaRPr>
          </a:p>
        </p:txBody>
      </p:sp>
      <p:sp>
        <p:nvSpPr>
          <p:cNvPr id="8" name="Shape 5"/>
          <p:cNvSpPr/>
          <p:nvPr/>
        </p:nvSpPr>
        <p:spPr>
          <a:xfrm>
            <a:off x="5682996" y="1783080"/>
            <a:ext cx="822960" cy="82296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9" name="Image 1" descr="/home/claude/deck/icons/chartline_w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56732" y="1956816"/>
            <a:ext cx="475488" cy="475488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4448556" y="2743200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900" b="1" dirty="0">
                <a:solidFill>
                  <a:srgbClr val="1E2761"/>
                </a:solidFill>
                <a:latin typeface="+mn-ea"/>
                <a:cs typeface="Cambria" pitchFamily="34" charset="-120"/>
              </a:rPr>
              <a:t>即時</a:t>
            </a:r>
            <a:endParaRPr lang="en-US" sz="1900" dirty="0">
              <a:latin typeface="+mn-ea"/>
            </a:endParaRPr>
          </a:p>
        </p:txBody>
      </p:sp>
      <p:sp>
        <p:nvSpPr>
          <p:cNvPr id="11" name="Text 7"/>
          <p:cNvSpPr/>
          <p:nvPr/>
        </p:nvSpPr>
        <p:spPr>
          <a:xfrm>
            <a:off x="4448556" y="3136392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dirty="0" err="1">
                <a:solidFill>
                  <a:srgbClr val="333333"/>
                </a:solidFill>
                <a:latin typeface="+mn-ea"/>
                <a:cs typeface="Calibri" pitchFamily="34" charset="-120"/>
              </a:rPr>
              <a:t>每日</a:t>
            </a:r>
            <a:r>
              <a:rPr lang="en-US" sz="1250" dirty="0">
                <a:solidFill>
                  <a:srgbClr val="333333"/>
                </a:solidFill>
                <a:latin typeface="+mn-ea"/>
                <a:cs typeface="Calibri" pitchFamily="34" charset="-120"/>
              </a:rPr>
              <a:t> 07:20–07:40 </a:t>
            </a:r>
            <a:r>
              <a:rPr lang="en-US" sz="1250" dirty="0" err="1">
                <a:solidFill>
                  <a:srgbClr val="333333"/>
                </a:solidFill>
                <a:latin typeface="+mn-ea"/>
                <a:cs typeface="Calibri" pitchFamily="34" charset="-120"/>
              </a:rPr>
              <a:t>送達</a:t>
            </a:r>
            <a:r>
              <a:rPr lang="en-US" sz="1250" dirty="0">
                <a:solidFill>
                  <a:srgbClr val="333333"/>
                </a:solidFill>
                <a:latin typeface="+mn-ea"/>
                <a:cs typeface="Calibri" pitchFamily="34" charset="-120"/>
              </a:rPr>
              <a:t>(</a:t>
            </a:r>
            <a:r>
              <a:rPr lang="zh-TW" altLang="en-US" sz="1250" dirty="0">
                <a:solidFill>
                  <a:srgbClr val="333333"/>
                </a:solidFill>
                <a:latin typeface="+mn-ea"/>
                <a:cs typeface="Calibri" pitchFamily="34" charset="-120"/>
              </a:rPr>
              <a:t>同事上班前就收到了</a:t>
            </a:r>
            <a:r>
              <a:rPr lang="en-US" altLang="zh-TW" sz="1250" dirty="0">
                <a:solidFill>
                  <a:srgbClr val="333333"/>
                </a:solidFill>
                <a:latin typeface="+mn-ea"/>
                <a:cs typeface="Calibri" pitchFamily="34" charset="-120"/>
              </a:rPr>
              <a:t>)</a:t>
            </a:r>
            <a:endParaRPr lang="en-US" sz="1250" dirty="0">
              <a:latin typeface="+mn-ea"/>
            </a:endParaRPr>
          </a:p>
        </p:txBody>
      </p:sp>
      <p:sp>
        <p:nvSpPr>
          <p:cNvPr id="12" name="Shape 8"/>
          <p:cNvSpPr/>
          <p:nvPr/>
        </p:nvSpPr>
        <p:spPr>
          <a:xfrm>
            <a:off x="9432036" y="1783080"/>
            <a:ext cx="822960" cy="82296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13" name="Image 2" descr="/home/claude/deck/icons/newspaper_w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605772" y="1956816"/>
            <a:ext cx="475488" cy="475488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8197596" y="2743200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900" b="1" dirty="0">
                <a:solidFill>
                  <a:srgbClr val="1E2761"/>
                </a:solidFill>
                <a:latin typeface="+mn-ea"/>
                <a:cs typeface="Cambria" pitchFamily="34" charset="-120"/>
              </a:rPr>
              <a:t>更全面</a:t>
            </a:r>
            <a:endParaRPr lang="en-US" sz="1900" dirty="0">
              <a:latin typeface="+mn-ea"/>
            </a:endParaRPr>
          </a:p>
        </p:txBody>
      </p:sp>
      <p:sp>
        <p:nvSpPr>
          <p:cNvPr id="15" name="Text 10"/>
          <p:cNvSpPr/>
          <p:nvPr/>
        </p:nvSpPr>
        <p:spPr>
          <a:xfrm>
            <a:off x="8197596" y="3136392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dirty="0">
                <a:solidFill>
                  <a:srgbClr val="333333"/>
                </a:solidFill>
                <a:latin typeface="+mn-ea"/>
                <a:cs typeface="Calibri" pitchFamily="34" charset="-120"/>
              </a:rPr>
              <a:t>同時掃描多個新聞與數據來源</a:t>
            </a:r>
            <a:endParaRPr lang="en-US" sz="1250" dirty="0">
              <a:latin typeface="+mn-ea"/>
            </a:endParaRPr>
          </a:p>
        </p:txBody>
      </p:sp>
      <p:sp>
        <p:nvSpPr>
          <p:cNvPr id="16" name="Shape 11"/>
          <p:cNvSpPr/>
          <p:nvPr/>
        </p:nvSpPr>
        <p:spPr>
          <a:xfrm>
            <a:off x="822960" y="3611880"/>
            <a:ext cx="10543032" cy="0"/>
          </a:xfrm>
          <a:prstGeom prst="line">
            <a:avLst/>
          </a:prstGeom>
          <a:noFill/>
          <a:ln w="12700">
            <a:solidFill>
              <a:srgbClr val="CADCFC"/>
            </a:solidFill>
            <a:prstDash val="solid"/>
          </a:ln>
        </p:spPr>
      </p:sp>
      <p:sp>
        <p:nvSpPr>
          <p:cNvPr id="17" name="Shape 12"/>
          <p:cNvSpPr/>
          <p:nvPr/>
        </p:nvSpPr>
        <p:spPr>
          <a:xfrm>
            <a:off x="822960" y="4069080"/>
            <a:ext cx="4480560" cy="1965960"/>
          </a:xfrm>
          <a:prstGeom prst="roundRect">
            <a:avLst>
              <a:gd name="adj" fmla="val 4651"/>
            </a:avLst>
          </a:prstGeom>
          <a:solidFill>
            <a:schemeClr val="tx2">
              <a:lumMod val="50000"/>
            </a:schemeClr>
          </a:solidFill>
          <a:ln/>
        </p:spPr>
      </p:sp>
      <p:sp>
        <p:nvSpPr>
          <p:cNvPr id="18" name="Text 13"/>
          <p:cNvSpPr/>
          <p:nvPr/>
        </p:nvSpPr>
        <p:spPr>
          <a:xfrm>
            <a:off x="1097280" y="4270248"/>
            <a:ext cx="39319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chemeClr val="bg1"/>
                </a:solidFill>
                <a:latin typeface="+mn-ea"/>
                <a:cs typeface="Calibri" pitchFamily="34" charset="-120"/>
              </a:rPr>
              <a:t>現在</a:t>
            </a:r>
            <a:endParaRPr lang="en-US" sz="1600" dirty="0">
              <a:solidFill>
                <a:schemeClr val="bg1"/>
              </a:solidFill>
              <a:latin typeface="+mn-ea"/>
            </a:endParaRPr>
          </a:p>
        </p:txBody>
      </p:sp>
      <p:sp>
        <p:nvSpPr>
          <p:cNvPr id="19" name="Text 14"/>
          <p:cNvSpPr/>
          <p:nvPr/>
        </p:nvSpPr>
        <p:spPr>
          <a:xfrm>
            <a:off x="1097280" y="4526280"/>
            <a:ext cx="39319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 err="1">
                <a:solidFill>
                  <a:srgbClr val="FFFFFF"/>
                </a:solidFill>
                <a:latin typeface="+mn-ea"/>
                <a:cs typeface="Cambria" pitchFamily="34" charset="-120"/>
              </a:rPr>
              <a:t>公開＋免費來源</a:t>
            </a:r>
            <a:r>
              <a:rPr lang="zh-TW" altLang="en-US" sz="2000" b="1" dirty="0">
                <a:solidFill>
                  <a:srgbClr val="FFFFFF"/>
                </a:solidFill>
                <a:latin typeface="+mn-ea"/>
                <a:cs typeface="Cambria" pitchFamily="34" charset="-120"/>
              </a:rPr>
              <a:t>的資料來源</a:t>
            </a:r>
            <a:endParaRPr lang="en-US" sz="2000" dirty="0">
              <a:latin typeface="+mn-ea"/>
            </a:endParaRPr>
          </a:p>
        </p:txBody>
      </p:sp>
      <p:sp>
        <p:nvSpPr>
          <p:cNvPr id="20" name="Text 15"/>
          <p:cNvSpPr/>
          <p:nvPr/>
        </p:nvSpPr>
        <p:spPr>
          <a:xfrm>
            <a:off x="1097280" y="5029200"/>
            <a:ext cx="3931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250" dirty="0">
                <a:solidFill>
                  <a:schemeClr val="bg1"/>
                </a:solidFill>
                <a:latin typeface="+mn-ea"/>
                <a:cs typeface="Calibri" pitchFamily="34" charset="-120"/>
              </a:rPr>
              <a:t>Twelve </a:t>
            </a:r>
            <a:r>
              <a:rPr lang="en-US" sz="1250" dirty="0" err="1">
                <a:solidFill>
                  <a:schemeClr val="bg1"/>
                </a:solidFill>
                <a:latin typeface="+mn-ea"/>
                <a:cs typeface="Calibri" pitchFamily="34" charset="-120"/>
              </a:rPr>
              <a:t>Data・yFinance・</a:t>
            </a:r>
            <a:r>
              <a:rPr lang="en-US" altLang="zh-TW" sz="1250" dirty="0" err="1">
                <a:solidFill>
                  <a:schemeClr val="bg1"/>
                </a:solidFill>
                <a:latin typeface="+mn-ea"/>
                <a:cs typeface="Calibri" pitchFamily="34" charset="-120"/>
              </a:rPr>
              <a:t>FCS</a:t>
            </a:r>
            <a:r>
              <a:rPr lang="zh-TW" altLang="en-US" sz="1250" dirty="0">
                <a:solidFill>
                  <a:schemeClr val="bg1"/>
                </a:solidFill>
                <a:latin typeface="+mn-ea"/>
                <a:cs typeface="Calibri" pitchFamily="34" charset="-120"/>
              </a:rPr>
              <a:t> </a:t>
            </a:r>
            <a:r>
              <a:rPr lang="en-US" altLang="zh-TW" sz="1250" dirty="0">
                <a:solidFill>
                  <a:schemeClr val="bg1"/>
                </a:solidFill>
                <a:latin typeface="+mn-ea"/>
                <a:cs typeface="Calibri" pitchFamily="34" charset="-120"/>
              </a:rPr>
              <a:t>API,</a:t>
            </a:r>
            <a:r>
              <a:rPr lang="zh-TW" altLang="en-US" sz="1250" dirty="0">
                <a:solidFill>
                  <a:schemeClr val="bg1"/>
                </a:solidFill>
                <a:latin typeface="+mn-ea"/>
                <a:cs typeface="Calibri" pitchFamily="34" charset="-120"/>
              </a:rPr>
              <a:t> </a:t>
            </a:r>
            <a:r>
              <a:rPr lang="en-US" sz="1250" dirty="0" err="1">
                <a:solidFill>
                  <a:schemeClr val="bg1"/>
                </a:solidFill>
                <a:latin typeface="+mn-ea"/>
                <a:cs typeface="Calibri" pitchFamily="34" charset="-120"/>
              </a:rPr>
              <a:t>ForexFactory</a:t>
            </a:r>
            <a:endParaRPr lang="en-US" sz="1250" dirty="0">
              <a:solidFill>
                <a:schemeClr val="bg1"/>
              </a:solidFill>
              <a:latin typeface="+mn-ea"/>
            </a:endParaRPr>
          </a:p>
          <a:p>
            <a:pPr marL="0" indent="0">
              <a:lnSpc>
                <a:spcPct val="130000"/>
              </a:lnSpc>
              <a:buNone/>
            </a:pPr>
            <a:r>
              <a:rPr lang="en-US" sz="1250" dirty="0">
                <a:solidFill>
                  <a:schemeClr val="bg1"/>
                </a:solidFill>
                <a:latin typeface="+mn-ea"/>
                <a:cs typeface="Calibri" pitchFamily="34" charset="-120"/>
              </a:rPr>
              <a:t>Reuters／Bloomberg 公開頭條</a:t>
            </a:r>
            <a:endParaRPr lang="en-US" sz="1250" dirty="0">
              <a:solidFill>
                <a:schemeClr val="bg1"/>
              </a:solidFill>
              <a:latin typeface="+mn-ea"/>
            </a:endParaRPr>
          </a:p>
        </p:txBody>
      </p:sp>
      <p:pic>
        <p:nvPicPr>
          <p:cNvPr id="21" name="Image 3" descr="/home/claude/deck/icons/arrow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893308" y="4850892"/>
            <a:ext cx="402336" cy="402336"/>
          </a:xfrm>
          <a:prstGeom prst="rect">
            <a:avLst/>
          </a:prstGeom>
        </p:spPr>
      </p:pic>
      <p:sp>
        <p:nvSpPr>
          <p:cNvPr id="22" name="Shape 16"/>
          <p:cNvSpPr/>
          <p:nvPr/>
        </p:nvSpPr>
        <p:spPr>
          <a:xfrm>
            <a:off x="6885432" y="4069080"/>
            <a:ext cx="4480560" cy="1965960"/>
          </a:xfrm>
          <a:prstGeom prst="roundRect">
            <a:avLst>
              <a:gd name="adj" fmla="val 4651"/>
            </a:avLst>
          </a:prstGeom>
          <a:solidFill>
            <a:srgbClr val="F4F7FD"/>
          </a:solidFill>
          <a:ln w="19050">
            <a:solidFill>
              <a:srgbClr val="1E2761"/>
            </a:solidFill>
            <a:prstDash val="dash"/>
          </a:ln>
        </p:spPr>
      </p:sp>
      <p:sp>
        <p:nvSpPr>
          <p:cNvPr id="23" name="Text 17"/>
          <p:cNvSpPr/>
          <p:nvPr/>
        </p:nvSpPr>
        <p:spPr>
          <a:xfrm>
            <a:off x="7159752" y="4270248"/>
            <a:ext cx="39319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chemeClr val="tx2">
                    <a:lumMod val="75000"/>
                  </a:schemeClr>
                </a:solidFill>
                <a:latin typeface="+mn-ea"/>
                <a:cs typeface="Calibri" pitchFamily="34" charset="-120"/>
              </a:rPr>
              <a:t>未來規劃</a:t>
            </a:r>
            <a:endParaRPr lang="en-US" sz="1600" dirty="0">
              <a:solidFill>
                <a:schemeClr val="tx2">
                  <a:lumMod val="75000"/>
                </a:schemeClr>
              </a:solidFill>
              <a:latin typeface="+mn-ea"/>
            </a:endParaRPr>
          </a:p>
        </p:txBody>
      </p:sp>
      <p:sp>
        <p:nvSpPr>
          <p:cNvPr id="24" name="Text 18"/>
          <p:cNvSpPr/>
          <p:nvPr/>
        </p:nvSpPr>
        <p:spPr>
          <a:xfrm>
            <a:off x="7159752" y="4526280"/>
            <a:ext cx="39319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E2761"/>
                </a:solidFill>
                <a:latin typeface="+mn-ea"/>
                <a:cs typeface="Cambria" pitchFamily="34" charset="-120"/>
              </a:rPr>
              <a:t>串接 LSEG Workspace</a:t>
            </a:r>
            <a:endParaRPr lang="en-US" sz="2000" dirty="0">
              <a:latin typeface="+mn-ea"/>
            </a:endParaRPr>
          </a:p>
        </p:txBody>
      </p:sp>
      <p:sp>
        <p:nvSpPr>
          <p:cNvPr id="25" name="Text 19"/>
          <p:cNvSpPr/>
          <p:nvPr/>
        </p:nvSpPr>
        <p:spPr>
          <a:xfrm>
            <a:off x="7159752" y="5029200"/>
            <a:ext cx="3931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333333"/>
                </a:solidFill>
                <a:latin typeface="+mn-ea"/>
                <a:cs typeface="Calibri" pitchFamily="34" charset="-120"/>
              </a:rPr>
              <a:t>更即時的機構級新聞</a:t>
            </a:r>
            <a:endParaRPr lang="en-US" sz="1250" dirty="0">
              <a:latin typeface="+mn-ea"/>
            </a:endParaRPr>
          </a:p>
          <a:p>
            <a:pPr marL="0" indent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333333"/>
                </a:solidFill>
                <a:latin typeface="+mn-ea"/>
                <a:cs typeface="Calibri" pitchFamily="34" charset="-120"/>
              </a:rPr>
              <a:t>更完整的歷史數據與更少空欄位</a:t>
            </a:r>
            <a:endParaRPr lang="en-US" sz="1250" dirty="0">
              <a:latin typeface="+mn-ea"/>
            </a:endParaRPr>
          </a:p>
        </p:txBody>
      </p:sp>
      <p:sp>
        <p:nvSpPr>
          <p:cNvPr id="26" name="Text 20"/>
          <p:cNvSpPr/>
          <p:nvPr/>
        </p:nvSpPr>
        <p:spPr>
          <a:xfrm>
            <a:off x="11475720" y="6446520"/>
            <a:ext cx="548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B8C"/>
                </a:solidFill>
                <a:latin typeface="+mn-ea"/>
                <a:cs typeface="Calibri" pitchFamily="34" charset="-120"/>
              </a:rPr>
              <a:t>03</a:t>
            </a:r>
            <a:endParaRPr lang="en-US" sz="1000" dirty="0">
              <a:latin typeface="+mn-ea"/>
            </a:endParaRPr>
          </a:p>
        </p:txBody>
      </p:sp>
      <p:pic>
        <p:nvPicPr>
          <p:cNvPr id="3078" name="Picture 6" descr="Logotipo De Lseg">
            <a:extLst>
              <a:ext uri="{FF2B5EF4-FFF2-40B4-BE49-F238E27FC236}">
                <a16:creationId xmlns:a16="http://schemas.microsoft.com/office/drawing/2014/main" id="{A0CBDE6F-3481-4C7E-BA37-D5B68561718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368534" y="4191762"/>
            <a:ext cx="860298" cy="86029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Shape 11">
            <a:extLst>
              <a:ext uri="{FF2B5EF4-FFF2-40B4-BE49-F238E27FC236}">
                <a16:creationId xmlns:a16="http://schemas.microsoft.com/office/drawing/2014/main" id="{B866ECEB-D838-420C-90CF-9E904B7B739F}"/>
              </a:ext>
            </a:extLst>
          </p:cNvPr>
          <p:cNvSpPr/>
          <p:nvPr/>
        </p:nvSpPr>
        <p:spPr>
          <a:xfrm>
            <a:off x="786213" y="1391785"/>
            <a:ext cx="2953684" cy="4043340"/>
          </a:xfrm>
          <a:prstGeom prst="roundRect">
            <a:avLst>
              <a:gd name="adj" fmla="val 1074"/>
            </a:avLst>
          </a:prstGeom>
          <a:solidFill>
            <a:schemeClr val="tx2">
              <a:lumMod val="20000"/>
              <a:lumOff val="80000"/>
            </a:schemeClr>
          </a:solidFill>
          <a:ln/>
          <a:effectLst>
            <a:outerShdw blurRad="76200" dist="25400" dir="5400000" algn="bl" rotWithShape="0">
              <a:srgbClr val="1E2761">
                <a:alpha val="18000"/>
              </a:srgbClr>
            </a:outerShdw>
          </a:effectLst>
        </p:spPr>
      </p:sp>
      <p:sp>
        <p:nvSpPr>
          <p:cNvPr id="31" name="Shape 11">
            <a:extLst>
              <a:ext uri="{FF2B5EF4-FFF2-40B4-BE49-F238E27FC236}">
                <a16:creationId xmlns:a16="http://schemas.microsoft.com/office/drawing/2014/main" id="{7E9E49A2-3D71-42E3-8907-0D3D61A966C1}"/>
              </a:ext>
            </a:extLst>
          </p:cNvPr>
          <p:cNvSpPr/>
          <p:nvPr/>
        </p:nvSpPr>
        <p:spPr>
          <a:xfrm>
            <a:off x="4362736" y="1223160"/>
            <a:ext cx="7639939" cy="4263240"/>
          </a:xfrm>
          <a:prstGeom prst="roundRect">
            <a:avLst>
              <a:gd name="adj" fmla="val 1074"/>
            </a:avLst>
          </a:prstGeom>
          <a:solidFill>
            <a:schemeClr val="accent6">
              <a:lumMod val="20000"/>
              <a:lumOff val="80000"/>
            </a:schemeClr>
          </a:solidFill>
          <a:ln/>
          <a:effectLst>
            <a:outerShdw blurRad="76200" dist="25400" dir="5400000" algn="bl" rotWithShape="0">
              <a:srgbClr val="1E2761">
                <a:alpha val="18000"/>
              </a:srgbClr>
            </a:outerShdw>
          </a:effectLst>
        </p:spPr>
      </p:sp>
      <p:sp>
        <p:nvSpPr>
          <p:cNvPr id="2" name="Text 0"/>
          <p:cNvSpPr/>
          <p:nvPr/>
        </p:nvSpPr>
        <p:spPr>
          <a:xfrm>
            <a:off x="548640" y="384048"/>
            <a:ext cx="10607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 err="1">
                <a:solidFill>
                  <a:srgbClr val="1E2761"/>
                </a:solidFill>
                <a:latin typeface="+mn-ea"/>
                <a:cs typeface="Cambria" pitchFamily="34" charset="-120"/>
              </a:rPr>
              <a:t>實際畫面</a:t>
            </a:r>
            <a:r>
              <a:rPr lang="zh-TW" altLang="en-US" sz="3400" b="1" dirty="0">
                <a:solidFill>
                  <a:srgbClr val="1E2761"/>
                </a:solidFill>
                <a:latin typeface="+mn-ea"/>
                <a:cs typeface="Cambria" pitchFamily="34" charset="-120"/>
              </a:rPr>
              <a:t>展示</a:t>
            </a:r>
            <a:endParaRPr lang="en-US" sz="3400" dirty="0">
              <a:latin typeface="+mn-ea"/>
            </a:endParaRPr>
          </a:p>
        </p:txBody>
      </p:sp>
      <p:sp>
        <p:nvSpPr>
          <p:cNvPr id="3" name="Text 1"/>
          <p:cNvSpPr/>
          <p:nvPr/>
        </p:nvSpPr>
        <p:spPr>
          <a:xfrm>
            <a:off x="548640" y="987552"/>
            <a:ext cx="10607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latin typeface="+mn-ea"/>
                <a:cs typeface="Calibri" pitchFamily="34" charset="-120"/>
              </a:rPr>
              <a:t>從系統生成，到使用者手中收到的內容</a:t>
            </a:r>
            <a:endParaRPr lang="en-US" sz="1350" dirty="0">
              <a:latin typeface="+mn-ea"/>
            </a:endParaRPr>
          </a:p>
        </p:txBody>
      </p:sp>
      <p:sp>
        <p:nvSpPr>
          <p:cNvPr id="16" name="Text 12"/>
          <p:cNvSpPr/>
          <p:nvPr/>
        </p:nvSpPr>
        <p:spPr>
          <a:xfrm>
            <a:off x="356616" y="5486400"/>
            <a:ext cx="33832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E2761"/>
                </a:solidFill>
                <a:latin typeface="+mn-ea"/>
                <a:cs typeface="Calibri" pitchFamily="34" charset="-120"/>
              </a:rPr>
              <a:t>Email 晨報</a:t>
            </a:r>
            <a:endParaRPr lang="en-US" sz="1500" dirty="0">
              <a:latin typeface="+mn-ea"/>
            </a:endParaRPr>
          </a:p>
        </p:txBody>
      </p:sp>
      <p:sp>
        <p:nvSpPr>
          <p:cNvPr id="17" name="Text 13"/>
          <p:cNvSpPr/>
          <p:nvPr/>
        </p:nvSpPr>
        <p:spPr>
          <a:xfrm>
            <a:off x="356616" y="5815584"/>
            <a:ext cx="3383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chemeClr val="tx2"/>
                </a:solidFill>
                <a:latin typeface="+mn-ea"/>
                <a:cs typeface="Calibri" pitchFamily="34" charset="-120"/>
              </a:rPr>
              <a:t>同步寄送到指定信箱</a:t>
            </a:r>
            <a:endParaRPr lang="en-US" sz="1150" dirty="0">
              <a:solidFill>
                <a:schemeClr val="tx2"/>
              </a:solidFill>
              <a:latin typeface="+mn-ea"/>
            </a:endParaRPr>
          </a:p>
        </p:txBody>
      </p:sp>
      <p:sp>
        <p:nvSpPr>
          <p:cNvPr id="23" name="Text 18"/>
          <p:cNvSpPr/>
          <p:nvPr/>
        </p:nvSpPr>
        <p:spPr>
          <a:xfrm>
            <a:off x="7030361" y="5541264"/>
            <a:ext cx="33832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E2761"/>
                </a:solidFill>
                <a:latin typeface="+mn-ea"/>
                <a:cs typeface="Calibri" pitchFamily="34" charset="-120"/>
              </a:rPr>
              <a:t>LINE 官方帳號</a:t>
            </a:r>
            <a:endParaRPr lang="en-US" sz="1500" dirty="0">
              <a:latin typeface="+mn-ea"/>
            </a:endParaRPr>
          </a:p>
        </p:txBody>
      </p:sp>
      <p:sp>
        <p:nvSpPr>
          <p:cNvPr id="24" name="Text 19"/>
          <p:cNvSpPr/>
          <p:nvPr/>
        </p:nvSpPr>
        <p:spPr>
          <a:xfrm>
            <a:off x="7030361" y="5870448"/>
            <a:ext cx="3383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dirty="0" err="1">
                <a:solidFill>
                  <a:schemeClr val="tx2"/>
                </a:solidFill>
                <a:latin typeface="+mn-ea"/>
                <a:cs typeface="Calibri" pitchFamily="34" charset="-120"/>
              </a:rPr>
              <a:t>推播訊息＋點開落地頁</a:t>
            </a:r>
            <a:r>
              <a:rPr lang="en-US" altLang="zh-TW" sz="1150" dirty="0">
                <a:solidFill>
                  <a:schemeClr val="tx2"/>
                </a:solidFill>
                <a:latin typeface="+mn-ea"/>
                <a:cs typeface="Calibri" pitchFamily="34" charset="-120"/>
              </a:rPr>
              <a:t>(HTML</a:t>
            </a:r>
            <a:r>
              <a:rPr lang="zh-TW" altLang="en-US" sz="1150" dirty="0">
                <a:solidFill>
                  <a:schemeClr val="tx2"/>
                </a:solidFill>
                <a:latin typeface="+mn-ea"/>
                <a:cs typeface="Calibri" pitchFamily="34" charset="-120"/>
              </a:rPr>
              <a:t>檔案</a:t>
            </a:r>
            <a:r>
              <a:rPr lang="en-US" altLang="zh-TW" sz="1150" dirty="0">
                <a:solidFill>
                  <a:schemeClr val="tx2"/>
                </a:solidFill>
                <a:latin typeface="+mn-ea"/>
                <a:cs typeface="Calibri" pitchFamily="34" charset="-120"/>
              </a:rPr>
              <a:t>)</a:t>
            </a:r>
            <a:endParaRPr lang="en-US" sz="1150" dirty="0">
              <a:solidFill>
                <a:schemeClr val="tx2"/>
              </a:solidFill>
              <a:latin typeface="+mn-ea"/>
            </a:endParaRPr>
          </a:p>
        </p:txBody>
      </p:sp>
      <p:pic>
        <p:nvPicPr>
          <p:cNvPr id="5122" name="Picture 2">
            <a:extLst>
              <a:ext uri="{FF2B5EF4-FFF2-40B4-BE49-F238E27FC236}">
                <a16:creationId xmlns:a16="http://schemas.microsoft.com/office/drawing/2014/main" id="{BC1F5427-C67B-458E-8609-EE1C123B5576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48011" r="10156" b="4683"/>
          <a:stretch/>
        </p:blipFill>
        <p:spPr bwMode="auto">
          <a:xfrm>
            <a:off x="4511290" y="1391785"/>
            <a:ext cx="3671416" cy="39608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7" name="圖片 26">
            <a:extLst>
              <a:ext uri="{FF2B5EF4-FFF2-40B4-BE49-F238E27FC236}">
                <a16:creationId xmlns:a16="http://schemas.microsoft.com/office/drawing/2014/main" id="{ABDEC39F-E00D-48FA-B414-3C63B69EA4A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86756" y="1449495"/>
            <a:ext cx="2752598" cy="3810570"/>
          </a:xfrm>
          <a:prstGeom prst="rect">
            <a:avLst/>
          </a:prstGeom>
        </p:spPr>
      </p:pic>
      <p:pic>
        <p:nvPicPr>
          <p:cNvPr id="29" name="圖片 28">
            <a:extLst>
              <a:ext uri="{FF2B5EF4-FFF2-40B4-BE49-F238E27FC236}">
                <a16:creationId xmlns:a16="http://schemas.microsoft.com/office/drawing/2014/main" id="{B037ADE2-93D2-411B-A86E-B50FC5F4405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314842" y="1391785"/>
            <a:ext cx="3695937" cy="3960862"/>
          </a:xfrm>
          <a:prstGeom prst="rect">
            <a:avLst/>
          </a:prstGeom>
        </p:spPr>
      </p:pic>
      <p:sp>
        <p:nvSpPr>
          <p:cNvPr id="33" name="Text 1">
            <a:hlinkClick r:id="rId6" action="ppaction://hlinkfile"/>
            <a:extLst>
              <a:ext uri="{FF2B5EF4-FFF2-40B4-BE49-F238E27FC236}">
                <a16:creationId xmlns:a16="http://schemas.microsoft.com/office/drawing/2014/main" id="{EF512DFD-D043-4518-A13F-E2DF14DC14FF}"/>
              </a:ext>
            </a:extLst>
          </p:cNvPr>
          <p:cNvSpPr/>
          <p:nvPr/>
        </p:nvSpPr>
        <p:spPr>
          <a:xfrm>
            <a:off x="5396502" y="6285090"/>
            <a:ext cx="1398995" cy="365760"/>
          </a:xfrm>
          <a:prstGeom prst="rect">
            <a:avLst/>
          </a:prstGeom>
          <a:solidFill>
            <a:schemeClr val="accent2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zh-TW" altLang="en-US" sz="1350" dirty="0">
                <a:solidFill>
                  <a:schemeClr val="bg1"/>
                </a:solidFill>
                <a:latin typeface="+mn-ea"/>
                <a:cs typeface="Calibri" pitchFamily="34" charset="-120"/>
              </a:rPr>
              <a:t>實際展示</a:t>
            </a:r>
            <a:r>
              <a:rPr lang="en-US" altLang="zh-TW" sz="1350" dirty="0">
                <a:solidFill>
                  <a:schemeClr val="bg1"/>
                </a:solidFill>
                <a:latin typeface="+mn-ea"/>
                <a:cs typeface="Calibri" pitchFamily="34" charset="-120"/>
              </a:rPr>
              <a:t>(LINK)</a:t>
            </a:r>
            <a:endParaRPr lang="en-US" sz="1350" dirty="0">
              <a:solidFill>
                <a:schemeClr val="bg1"/>
              </a:solidFill>
              <a:latin typeface="+mn-ea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51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607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zh-TW" altLang="en-US" sz="3400" b="1" dirty="0">
                <a:solidFill>
                  <a:srgbClr val="1E2761"/>
                </a:solidFill>
                <a:latin typeface="+mn-ea"/>
                <a:cs typeface="Cambria" pitchFamily="34" charset="-120"/>
              </a:rPr>
              <a:t>加入</a:t>
            </a:r>
            <a:r>
              <a:rPr lang="en-US" altLang="zh-TW" sz="3400" b="1" dirty="0">
                <a:solidFill>
                  <a:srgbClr val="1E2761"/>
                </a:solidFill>
                <a:latin typeface="+mn-ea"/>
                <a:cs typeface="Cambria" pitchFamily="34" charset="-120"/>
              </a:rPr>
              <a:t>Line</a:t>
            </a:r>
            <a:r>
              <a:rPr lang="zh-TW" altLang="en-US" sz="3400" b="1" dirty="0">
                <a:solidFill>
                  <a:srgbClr val="1E2761"/>
                </a:solidFill>
                <a:latin typeface="+mn-ea"/>
                <a:cs typeface="Cambria" pitchFamily="34" charset="-120"/>
              </a:rPr>
              <a:t>自動化群組</a:t>
            </a:r>
            <a:endParaRPr lang="en-US" sz="3400" dirty="0">
              <a:latin typeface="+mn-ea"/>
            </a:endParaRPr>
          </a:p>
        </p:txBody>
      </p:sp>
      <p:sp>
        <p:nvSpPr>
          <p:cNvPr id="3" name="Text 1"/>
          <p:cNvSpPr/>
          <p:nvPr/>
        </p:nvSpPr>
        <p:spPr>
          <a:xfrm>
            <a:off x="1081284" y="1064455"/>
            <a:ext cx="279634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zh-TW" altLang="en-US" sz="1350" dirty="0">
                <a:solidFill>
                  <a:srgbClr val="FF0000"/>
                </a:solidFill>
                <a:latin typeface="+mn-ea"/>
                <a:cs typeface="Calibri" pitchFamily="34" charset="-120"/>
              </a:rPr>
              <a:t>目前僅供內部使用，先不要外傳</a:t>
            </a:r>
            <a:endParaRPr lang="en-US" sz="1350" dirty="0">
              <a:solidFill>
                <a:srgbClr val="FF0000"/>
              </a:solidFill>
              <a:latin typeface="+mn-ea"/>
            </a:endParaRPr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23792763-9D27-4515-9AF0-6739B5B9934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47902" y="1730023"/>
            <a:ext cx="3459454" cy="339795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5" name="Picture 2">
            <a:extLst>
              <a:ext uri="{FF2B5EF4-FFF2-40B4-BE49-F238E27FC236}">
                <a16:creationId xmlns:a16="http://schemas.microsoft.com/office/drawing/2014/main" id="{0DE5114C-F912-4B9A-8129-2F2BF6E3B47E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48011" r="10156" b="4683"/>
          <a:stretch/>
        </p:blipFill>
        <p:spPr bwMode="auto">
          <a:xfrm>
            <a:off x="6168151" y="1625678"/>
            <a:ext cx="3671416" cy="39608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8" name="Text 1">
            <a:extLst>
              <a:ext uri="{FF2B5EF4-FFF2-40B4-BE49-F238E27FC236}">
                <a16:creationId xmlns:a16="http://schemas.microsoft.com/office/drawing/2014/main" id="{5F7DE608-D202-491E-B49F-7F5335A41115}"/>
              </a:ext>
            </a:extLst>
          </p:cNvPr>
          <p:cNvSpPr/>
          <p:nvPr/>
        </p:nvSpPr>
        <p:spPr>
          <a:xfrm>
            <a:off x="6253088" y="5783072"/>
            <a:ext cx="350154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zh-TW" altLang="en-US" sz="1350" dirty="0">
                <a:solidFill>
                  <a:schemeClr val="tx2"/>
                </a:solidFill>
                <a:latin typeface="+mn-ea"/>
                <a:cs typeface="Calibri" pitchFamily="34" charset="-120"/>
              </a:rPr>
              <a:t>加入後，每天就可以即時收到自動送來的晨報</a:t>
            </a:r>
            <a:endParaRPr lang="en-US" sz="1350" dirty="0">
              <a:solidFill>
                <a:schemeClr val="tx2"/>
              </a:solidFill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334140849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607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1E2761"/>
                </a:solidFill>
                <a:latin typeface="+mn-ea"/>
                <a:cs typeface="Cambria" pitchFamily="34" charset="-120"/>
              </a:rPr>
              <a:t>技術附註：用到的工具</a:t>
            </a:r>
            <a:endParaRPr lang="en-US" sz="3400" dirty="0">
              <a:latin typeface="+mn-ea"/>
            </a:endParaRPr>
          </a:p>
        </p:txBody>
      </p:sp>
      <p:sp>
        <p:nvSpPr>
          <p:cNvPr id="3" name="Text 1"/>
          <p:cNvSpPr/>
          <p:nvPr/>
        </p:nvSpPr>
        <p:spPr>
          <a:xfrm>
            <a:off x="548640" y="987552"/>
            <a:ext cx="10607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 err="1">
                <a:solidFill>
                  <a:srgbClr val="5B6B8C"/>
                </a:solidFill>
                <a:latin typeface="+mn-ea"/>
                <a:cs typeface="Calibri" pitchFamily="34" charset="-120"/>
              </a:rPr>
              <a:t>每一項都用一句話比喻，方便理解各自的角色</a:t>
            </a:r>
            <a:endParaRPr lang="en-US" sz="1400" dirty="0">
              <a:latin typeface="+mn-ea"/>
            </a:endParaRPr>
          </a:p>
        </p:txBody>
      </p:sp>
      <p:sp>
        <p:nvSpPr>
          <p:cNvPr id="4" name="Shape 2"/>
          <p:cNvSpPr/>
          <p:nvPr/>
        </p:nvSpPr>
        <p:spPr>
          <a:xfrm>
            <a:off x="608076" y="1783080"/>
            <a:ext cx="2606040" cy="2148840"/>
          </a:xfrm>
          <a:prstGeom prst="roundRect">
            <a:avLst>
              <a:gd name="adj" fmla="val 3404"/>
            </a:avLst>
          </a:prstGeom>
          <a:solidFill>
            <a:srgbClr val="F4F7FD"/>
          </a:solidFill>
          <a:ln/>
        </p:spPr>
      </p:sp>
      <p:sp>
        <p:nvSpPr>
          <p:cNvPr id="5" name="Shape 3"/>
          <p:cNvSpPr/>
          <p:nvPr/>
        </p:nvSpPr>
        <p:spPr>
          <a:xfrm>
            <a:off x="1600200" y="2039112"/>
            <a:ext cx="621792" cy="621792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6" name="Image 0" descr="/home/claude/deck/icons/github_w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37360" y="2176272"/>
            <a:ext cx="347472" cy="347472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745236" y="2788920"/>
            <a:ext cx="2331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E2761"/>
                </a:solidFill>
                <a:latin typeface="+mn-ea"/>
                <a:cs typeface="Calibri" pitchFamily="34" charset="-120"/>
              </a:rPr>
              <a:t>GitHub</a:t>
            </a:r>
            <a:endParaRPr lang="en-US" sz="1400" dirty="0">
              <a:latin typeface="+mn-ea"/>
            </a:endParaRPr>
          </a:p>
        </p:txBody>
      </p:sp>
      <p:sp>
        <p:nvSpPr>
          <p:cNvPr id="8" name="Text 5"/>
          <p:cNvSpPr/>
          <p:nvPr/>
        </p:nvSpPr>
        <p:spPr>
          <a:xfrm>
            <a:off x="790956" y="3099816"/>
            <a:ext cx="224028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400" dirty="0">
                <a:solidFill>
                  <a:schemeClr val="tx2">
                    <a:lumMod val="75000"/>
                  </a:schemeClr>
                </a:solidFill>
                <a:latin typeface="+mn-ea"/>
                <a:cs typeface="Calibri" pitchFamily="34" charset="-120"/>
              </a:rPr>
              <a:t>程式碼的雲端保險箱，記錄每次修改歷史</a:t>
            </a:r>
            <a:endParaRPr lang="en-US" sz="1400" dirty="0">
              <a:solidFill>
                <a:schemeClr val="tx2">
                  <a:lumMod val="75000"/>
                </a:schemeClr>
              </a:solidFill>
              <a:latin typeface="+mn-ea"/>
            </a:endParaRPr>
          </a:p>
        </p:txBody>
      </p:sp>
      <p:sp>
        <p:nvSpPr>
          <p:cNvPr id="9" name="Shape 6"/>
          <p:cNvSpPr/>
          <p:nvPr/>
        </p:nvSpPr>
        <p:spPr>
          <a:xfrm>
            <a:off x="3396996" y="1783080"/>
            <a:ext cx="2606040" cy="2148840"/>
          </a:xfrm>
          <a:prstGeom prst="roundRect">
            <a:avLst>
              <a:gd name="adj" fmla="val 3404"/>
            </a:avLst>
          </a:prstGeom>
          <a:solidFill>
            <a:srgbClr val="F4F7FD"/>
          </a:solidFill>
          <a:ln/>
        </p:spPr>
      </p:sp>
      <p:sp>
        <p:nvSpPr>
          <p:cNvPr id="10" name="Shape 7"/>
          <p:cNvSpPr/>
          <p:nvPr/>
        </p:nvSpPr>
        <p:spPr>
          <a:xfrm>
            <a:off x="4389120" y="2039112"/>
            <a:ext cx="621792" cy="621792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11" name="Image 1" descr="/home/claude/deck/icons/database_w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26280" y="2176272"/>
            <a:ext cx="347472" cy="347472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3534156" y="2788920"/>
            <a:ext cx="2331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E2761"/>
                </a:solidFill>
                <a:latin typeface="+mn-ea"/>
                <a:cs typeface="Calibri" pitchFamily="34" charset="-120"/>
              </a:rPr>
              <a:t>Supabase</a:t>
            </a:r>
            <a:endParaRPr lang="en-US" sz="1400" dirty="0">
              <a:latin typeface="+mn-ea"/>
            </a:endParaRPr>
          </a:p>
        </p:txBody>
      </p:sp>
      <p:sp>
        <p:nvSpPr>
          <p:cNvPr id="13" name="Text 9"/>
          <p:cNvSpPr/>
          <p:nvPr/>
        </p:nvSpPr>
        <p:spPr>
          <a:xfrm>
            <a:off x="3579876" y="3099816"/>
            <a:ext cx="224028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400" dirty="0">
                <a:solidFill>
                  <a:schemeClr val="tx2">
                    <a:lumMod val="75000"/>
                  </a:schemeClr>
                </a:solidFill>
                <a:latin typeface="+mn-ea"/>
                <a:cs typeface="Calibri" pitchFamily="34" charset="-120"/>
              </a:rPr>
              <a:t>雲端版 Excel，存放晨報內容與設定</a:t>
            </a:r>
            <a:endParaRPr lang="en-US" sz="1400" dirty="0">
              <a:solidFill>
                <a:schemeClr val="tx2">
                  <a:lumMod val="75000"/>
                </a:schemeClr>
              </a:solidFill>
              <a:latin typeface="+mn-ea"/>
            </a:endParaRPr>
          </a:p>
        </p:txBody>
      </p:sp>
      <p:sp>
        <p:nvSpPr>
          <p:cNvPr id="14" name="Shape 10"/>
          <p:cNvSpPr/>
          <p:nvPr/>
        </p:nvSpPr>
        <p:spPr>
          <a:xfrm>
            <a:off x="6185916" y="1783080"/>
            <a:ext cx="2606040" cy="2148840"/>
          </a:xfrm>
          <a:prstGeom prst="roundRect">
            <a:avLst>
              <a:gd name="adj" fmla="val 3404"/>
            </a:avLst>
          </a:prstGeom>
          <a:solidFill>
            <a:srgbClr val="F4F7FD"/>
          </a:solidFill>
          <a:ln/>
        </p:spPr>
      </p:sp>
      <p:sp>
        <p:nvSpPr>
          <p:cNvPr id="15" name="Shape 11"/>
          <p:cNvSpPr/>
          <p:nvPr/>
        </p:nvSpPr>
        <p:spPr>
          <a:xfrm>
            <a:off x="7178040" y="2039112"/>
            <a:ext cx="621792" cy="621792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16" name="Image 2" descr="/home/claude/deck/icons/server_w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315200" y="2176272"/>
            <a:ext cx="347472" cy="347472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6323076" y="2788920"/>
            <a:ext cx="2331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E2761"/>
                </a:solidFill>
                <a:latin typeface="+mn-ea"/>
                <a:cs typeface="Calibri" pitchFamily="34" charset="-120"/>
              </a:rPr>
              <a:t>Render</a:t>
            </a:r>
            <a:endParaRPr lang="en-US" sz="1400" dirty="0">
              <a:latin typeface="+mn-ea"/>
            </a:endParaRPr>
          </a:p>
        </p:txBody>
      </p:sp>
      <p:sp>
        <p:nvSpPr>
          <p:cNvPr id="18" name="Text 13"/>
          <p:cNvSpPr/>
          <p:nvPr/>
        </p:nvSpPr>
        <p:spPr>
          <a:xfrm>
            <a:off x="6368796" y="3099816"/>
            <a:ext cx="224028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400" dirty="0">
                <a:solidFill>
                  <a:schemeClr val="tx2">
                    <a:lumMod val="75000"/>
                  </a:schemeClr>
                </a:solidFill>
                <a:latin typeface="+mn-ea"/>
                <a:cs typeface="Calibri" pitchFamily="34" charset="-120"/>
              </a:rPr>
              <a:t>讓程式 24 小時自動運作的廠房</a:t>
            </a:r>
            <a:endParaRPr lang="en-US" sz="1400" dirty="0">
              <a:solidFill>
                <a:schemeClr val="tx2">
                  <a:lumMod val="75000"/>
                </a:schemeClr>
              </a:solidFill>
              <a:latin typeface="+mn-ea"/>
            </a:endParaRPr>
          </a:p>
        </p:txBody>
      </p:sp>
      <p:sp>
        <p:nvSpPr>
          <p:cNvPr id="19" name="Shape 14"/>
          <p:cNvSpPr/>
          <p:nvPr/>
        </p:nvSpPr>
        <p:spPr>
          <a:xfrm>
            <a:off x="8974836" y="1783080"/>
            <a:ext cx="2606040" cy="2148840"/>
          </a:xfrm>
          <a:prstGeom prst="roundRect">
            <a:avLst>
              <a:gd name="adj" fmla="val 3404"/>
            </a:avLst>
          </a:prstGeom>
          <a:solidFill>
            <a:srgbClr val="F4F7FD"/>
          </a:solidFill>
          <a:ln/>
        </p:spPr>
      </p:sp>
      <p:sp>
        <p:nvSpPr>
          <p:cNvPr id="20" name="Shape 15"/>
          <p:cNvSpPr/>
          <p:nvPr/>
        </p:nvSpPr>
        <p:spPr>
          <a:xfrm>
            <a:off x="9966960" y="2039112"/>
            <a:ext cx="621792" cy="621792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21" name="Image 3" descr="/home/claude/deck/icons/paperplane_w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104120" y="2176272"/>
            <a:ext cx="347472" cy="347472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9111996" y="2788920"/>
            <a:ext cx="2331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E2761"/>
                </a:solidFill>
                <a:latin typeface="+mn-ea"/>
                <a:cs typeface="Calibri" pitchFamily="34" charset="-120"/>
              </a:rPr>
              <a:t>Resend</a:t>
            </a:r>
            <a:endParaRPr lang="en-US" sz="1400" dirty="0">
              <a:latin typeface="+mn-ea"/>
            </a:endParaRPr>
          </a:p>
        </p:txBody>
      </p:sp>
      <p:sp>
        <p:nvSpPr>
          <p:cNvPr id="23" name="Text 17"/>
          <p:cNvSpPr/>
          <p:nvPr/>
        </p:nvSpPr>
        <p:spPr>
          <a:xfrm>
            <a:off x="9157716" y="3099816"/>
            <a:ext cx="224028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400" dirty="0">
                <a:solidFill>
                  <a:schemeClr val="tx2">
                    <a:lumMod val="75000"/>
                  </a:schemeClr>
                </a:solidFill>
                <a:latin typeface="+mn-ea"/>
                <a:cs typeface="Calibri" pitchFamily="34" charset="-120"/>
              </a:rPr>
              <a:t>確保信真的送到收件匣的郵局</a:t>
            </a:r>
            <a:endParaRPr lang="en-US" sz="1400" dirty="0">
              <a:solidFill>
                <a:schemeClr val="tx2">
                  <a:lumMod val="75000"/>
                </a:schemeClr>
              </a:solidFill>
              <a:latin typeface="+mn-ea"/>
            </a:endParaRPr>
          </a:p>
        </p:txBody>
      </p:sp>
      <p:sp>
        <p:nvSpPr>
          <p:cNvPr id="24" name="Shape 18"/>
          <p:cNvSpPr/>
          <p:nvPr/>
        </p:nvSpPr>
        <p:spPr>
          <a:xfrm>
            <a:off x="608076" y="4160520"/>
            <a:ext cx="2606040" cy="2148840"/>
          </a:xfrm>
          <a:prstGeom prst="roundRect">
            <a:avLst>
              <a:gd name="adj" fmla="val 3404"/>
            </a:avLst>
          </a:prstGeom>
          <a:solidFill>
            <a:srgbClr val="F4F7FD"/>
          </a:solidFill>
          <a:ln/>
        </p:spPr>
      </p:sp>
      <p:sp>
        <p:nvSpPr>
          <p:cNvPr id="25" name="Shape 19"/>
          <p:cNvSpPr/>
          <p:nvPr/>
        </p:nvSpPr>
        <p:spPr>
          <a:xfrm>
            <a:off x="1600200" y="4416552"/>
            <a:ext cx="621792" cy="621792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26" name="Image 4" descr="/home/claude/deck/icons/globe_w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737360" y="4553712"/>
            <a:ext cx="347472" cy="347472"/>
          </a:xfrm>
          <a:prstGeom prst="rect">
            <a:avLst/>
          </a:prstGeom>
        </p:spPr>
      </p:pic>
      <p:sp>
        <p:nvSpPr>
          <p:cNvPr id="27" name="Text 20"/>
          <p:cNvSpPr/>
          <p:nvPr/>
        </p:nvSpPr>
        <p:spPr>
          <a:xfrm>
            <a:off x="745236" y="5166360"/>
            <a:ext cx="2331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E2761"/>
                </a:solidFill>
                <a:latin typeface="+mn-ea"/>
                <a:cs typeface="Calibri" pitchFamily="34" charset="-120"/>
              </a:rPr>
              <a:t>Namecheap</a:t>
            </a:r>
            <a:endParaRPr lang="en-US" sz="1400" dirty="0">
              <a:latin typeface="+mn-ea"/>
            </a:endParaRPr>
          </a:p>
        </p:txBody>
      </p:sp>
      <p:sp>
        <p:nvSpPr>
          <p:cNvPr id="28" name="Text 21"/>
          <p:cNvSpPr/>
          <p:nvPr/>
        </p:nvSpPr>
        <p:spPr>
          <a:xfrm>
            <a:off x="790956" y="5477256"/>
            <a:ext cx="224028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400" dirty="0">
                <a:solidFill>
                  <a:schemeClr val="tx2">
                    <a:lumMod val="75000"/>
                  </a:schemeClr>
                </a:solidFill>
                <a:latin typeface="+mn-ea"/>
                <a:cs typeface="Calibri" pitchFamily="34" charset="-120"/>
              </a:rPr>
              <a:t>網域申請處，給系統一個好記的網址</a:t>
            </a:r>
            <a:endParaRPr lang="en-US" sz="1400" dirty="0">
              <a:solidFill>
                <a:schemeClr val="tx2">
                  <a:lumMod val="75000"/>
                </a:schemeClr>
              </a:solidFill>
              <a:latin typeface="+mn-ea"/>
            </a:endParaRPr>
          </a:p>
        </p:txBody>
      </p:sp>
      <p:sp>
        <p:nvSpPr>
          <p:cNvPr id="29" name="Shape 22"/>
          <p:cNvSpPr/>
          <p:nvPr/>
        </p:nvSpPr>
        <p:spPr>
          <a:xfrm>
            <a:off x="3396996" y="4160520"/>
            <a:ext cx="2606040" cy="2148840"/>
          </a:xfrm>
          <a:prstGeom prst="roundRect">
            <a:avLst>
              <a:gd name="adj" fmla="val 3404"/>
            </a:avLst>
          </a:prstGeom>
          <a:solidFill>
            <a:srgbClr val="F4F7FD"/>
          </a:solidFill>
          <a:ln/>
        </p:spPr>
      </p:sp>
      <p:sp>
        <p:nvSpPr>
          <p:cNvPr id="30" name="Shape 23"/>
          <p:cNvSpPr/>
          <p:nvPr/>
        </p:nvSpPr>
        <p:spPr>
          <a:xfrm>
            <a:off x="4389120" y="4416552"/>
            <a:ext cx="621792" cy="621792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31" name="Image 5" descr="/home/claude/deck/icons/python_w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526280" y="4553712"/>
            <a:ext cx="347472" cy="347472"/>
          </a:xfrm>
          <a:prstGeom prst="rect">
            <a:avLst/>
          </a:prstGeom>
        </p:spPr>
      </p:pic>
      <p:sp>
        <p:nvSpPr>
          <p:cNvPr id="32" name="Text 24"/>
          <p:cNvSpPr/>
          <p:nvPr/>
        </p:nvSpPr>
        <p:spPr>
          <a:xfrm>
            <a:off x="3534156" y="5166360"/>
            <a:ext cx="2331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E2761"/>
                </a:solidFill>
                <a:latin typeface="+mn-ea"/>
                <a:cs typeface="Calibri" pitchFamily="34" charset="-120"/>
              </a:rPr>
              <a:t>Python</a:t>
            </a:r>
            <a:endParaRPr lang="en-US" sz="1400" dirty="0">
              <a:latin typeface="+mn-ea"/>
            </a:endParaRPr>
          </a:p>
        </p:txBody>
      </p:sp>
      <p:sp>
        <p:nvSpPr>
          <p:cNvPr id="33" name="Text 25"/>
          <p:cNvSpPr/>
          <p:nvPr/>
        </p:nvSpPr>
        <p:spPr>
          <a:xfrm>
            <a:off x="3579876" y="5477256"/>
            <a:ext cx="224028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400" dirty="0">
                <a:solidFill>
                  <a:schemeClr val="tx2">
                    <a:lumMod val="75000"/>
                  </a:schemeClr>
                </a:solidFill>
                <a:latin typeface="+mn-ea"/>
                <a:cs typeface="Calibri" pitchFamily="34" charset="-120"/>
              </a:rPr>
              <a:t>把所有零件串起來的組裝說明書</a:t>
            </a:r>
            <a:endParaRPr lang="en-US" sz="1400" dirty="0">
              <a:solidFill>
                <a:schemeClr val="tx2">
                  <a:lumMod val="75000"/>
                </a:schemeClr>
              </a:solidFill>
              <a:latin typeface="+mn-ea"/>
            </a:endParaRPr>
          </a:p>
        </p:txBody>
      </p:sp>
      <p:sp>
        <p:nvSpPr>
          <p:cNvPr id="34" name="Shape 26"/>
          <p:cNvSpPr/>
          <p:nvPr/>
        </p:nvSpPr>
        <p:spPr>
          <a:xfrm>
            <a:off x="6185916" y="4160520"/>
            <a:ext cx="2606040" cy="2148840"/>
          </a:xfrm>
          <a:prstGeom prst="roundRect">
            <a:avLst>
              <a:gd name="adj" fmla="val 3404"/>
            </a:avLst>
          </a:prstGeom>
          <a:solidFill>
            <a:srgbClr val="F4F7FD"/>
          </a:solidFill>
          <a:ln/>
        </p:spPr>
      </p:sp>
      <p:sp>
        <p:nvSpPr>
          <p:cNvPr id="35" name="Shape 27"/>
          <p:cNvSpPr/>
          <p:nvPr/>
        </p:nvSpPr>
        <p:spPr>
          <a:xfrm>
            <a:off x="7178040" y="4416552"/>
            <a:ext cx="621792" cy="621792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36" name="Image 6" descr="/home/claude/deck/icons/line_w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315200" y="4553712"/>
            <a:ext cx="347472" cy="347472"/>
          </a:xfrm>
          <a:prstGeom prst="rect">
            <a:avLst/>
          </a:prstGeom>
        </p:spPr>
      </p:pic>
      <p:sp>
        <p:nvSpPr>
          <p:cNvPr id="37" name="Text 28"/>
          <p:cNvSpPr/>
          <p:nvPr/>
        </p:nvSpPr>
        <p:spPr>
          <a:xfrm>
            <a:off x="6323076" y="5166360"/>
            <a:ext cx="2331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E2761"/>
                </a:solidFill>
                <a:latin typeface="+mn-ea"/>
                <a:cs typeface="Calibri" pitchFamily="34" charset="-120"/>
              </a:rPr>
              <a:t>LINE API</a:t>
            </a:r>
            <a:endParaRPr lang="en-US" sz="1400" dirty="0">
              <a:latin typeface="+mn-ea"/>
            </a:endParaRPr>
          </a:p>
        </p:txBody>
      </p:sp>
      <p:sp>
        <p:nvSpPr>
          <p:cNvPr id="38" name="Text 29"/>
          <p:cNvSpPr/>
          <p:nvPr/>
        </p:nvSpPr>
        <p:spPr>
          <a:xfrm>
            <a:off x="6368796" y="5477256"/>
            <a:ext cx="224028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400" dirty="0">
                <a:solidFill>
                  <a:schemeClr val="tx2">
                    <a:lumMod val="75000"/>
                  </a:schemeClr>
                </a:solidFill>
                <a:latin typeface="+mn-ea"/>
                <a:cs typeface="Calibri" pitchFamily="34" charset="-120"/>
              </a:rPr>
              <a:t>讓官方帳號自己會發訊息，不用人工按送出</a:t>
            </a:r>
            <a:endParaRPr lang="en-US" sz="1400" dirty="0">
              <a:solidFill>
                <a:schemeClr val="tx2">
                  <a:lumMod val="75000"/>
                </a:schemeClr>
              </a:solidFill>
              <a:latin typeface="+mn-ea"/>
            </a:endParaRPr>
          </a:p>
        </p:txBody>
      </p:sp>
      <p:sp>
        <p:nvSpPr>
          <p:cNvPr id="39" name="Shape 30"/>
          <p:cNvSpPr/>
          <p:nvPr/>
        </p:nvSpPr>
        <p:spPr>
          <a:xfrm>
            <a:off x="8974836" y="4160520"/>
            <a:ext cx="2606040" cy="2148840"/>
          </a:xfrm>
          <a:prstGeom prst="roundRect">
            <a:avLst>
              <a:gd name="adj" fmla="val 3404"/>
            </a:avLst>
          </a:prstGeom>
          <a:solidFill>
            <a:srgbClr val="F4F7FD"/>
          </a:solidFill>
          <a:ln/>
        </p:spPr>
      </p:sp>
      <p:sp>
        <p:nvSpPr>
          <p:cNvPr id="40" name="Shape 31"/>
          <p:cNvSpPr/>
          <p:nvPr/>
        </p:nvSpPr>
        <p:spPr>
          <a:xfrm>
            <a:off x="9966960" y="4416552"/>
            <a:ext cx="621792" cy="621792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41" name="Image 7" descr="/home/claude/deck/icons/robot_w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0104120" y="4553712"/>
            <a:ext cx="347472" cy="347472"/>
          </a:xfrm>
          <a:prstGeom prst="rect">
            <a:avLst/>
          </a:prstGeom>
        </p:spPr>
      </p:pic>
      <p:sp>
        <p:nvSpPr>
          <p:cNvPr id="42" name="Text 32"/>
          <p:cNvSpPr/>
          <p:nvPr/>
        </p:nvSpPr>
        <p:spPr>
          <a:xfrm>
            <a:off x="9111996" y="5166360"/>
            <a:ext cx="2331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E2761"/>
                </a:solidFill>
                <a:latin typeface="+mn-ea"/>
                <a:cs typeface="Calibri" pitchFamily="34" charset="-120"/>
              </a:rPr>
              <a:t>Claude Models</a:t>
            </a:r>
            <a:endParaRPr lang="en-US" sz="1400" dirty="0">
              <a:latin typeface="+mn-ea"/>
            </a:endParaRPr>
          </a:p>
        </p:txBody>
      </p:sp>
      <p:sp>
        <p:nvSpPr>
          <p:cNvPr id="43" name="Text 33"/>
          <p:cNvSpPr/>
          <p:nvPr/>
        </p:nvSpPr>
        <p:spPr>
          <a:xfrm>
            <a:off x="9157716" y="5477256"/>
            <a:ext cx="224028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400" dirty="0">
                <a:solidFill>
                  <a:schemeClr val="tx2">
                    <a:lumMod val="75000"/>
                  </a:schemeClr>
                </a:solidFill>
                <a:latin typeface="+mn-ea"/>
                <a:cs typeface="Calibri" pitchFamily="34" charset="-120"/>
              </a:rPr>
              <a:t>真正負責看資料、判斷、寫分析的 AI 分析師</a:t>
            </a:r>
            <a:endParaRPr lang="en-US" sz="1400" dirty="0">
              <a:solidFill>
                <a:schemeClr val="tx2">
                  <a:lumMod val="75000"/>
                </a:schemeClr>
              </a:solidFill>
              <a:latin typeface="+mn-ea"/>
            </a:endParaRPr>
          </a:p>
        </p:txBody>
      </p:sp>
      <p:sp>
        <p:nvSpPr>
          <p:cNvPr id="44" name="Text 34"/>
          <p:cNvSpPr/>
          <p:nvPr/>
        </p:nvSpPr>
        <p:spPr>
          <a:xfrm>
            <a:off x="11475720" y="6446520"/>
            <a:ext cx="548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B8C"/>
                </a:solidFill>
                <a:latin typeface="+mn-ea"/>
                <a:cs typeface="Calibri" pitchFamily="34" charset="-120"/>
              </a:rPr>
              <a:t>05</a:t>
            </a:r>
            <a:endParaRPr lang="en-US" sz="1000" dirty="0">
              <a:latin typeface="+mn-ea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McKinsey Colour">
      <a:dk1>
        <a:sysClr val="windowText" lastClr="000000"/>
      </a:dk1>
      <a:lt1>
        <a:sysClr val="window" lastClr="FFFFFF"/>
      </a:lt1>
      <a:dk2>
        <a:srgbClr val="1F3A5F"/>
      </a:dk2>
      <a:lt2>
        <a:srgbClr val="F2F2F2"/>
      </a:lt2>
      <a:accent1>
        <a:srgbClr val="1F3A5F"/>
      </a:accent1>
      <a:accent2>
        <a:srgbClr val="E31937"/>
      </a:accent2>
      <a:accent3>
        <a:srgbClr val="999999"/>
      </a:accent3>
      <a:accent4>
        <a:srgbClr val="FFC72C"/>
      </a:accent4>
      <a:accent5>
        <a:srgbClr val="0070C0"/>
      </a:accent5>
      <a:accent6>
        <a:srgbClr val="00B050"/>
      </a:accent6>
      <a:hlink>
        <a:srgbClr val="0563C1"/>
      </a:hlink>
      <a:folHlink>
        <a:srgbClr val="954F72"/>
      </a:folHlink>
    </a:clrScheme>
    <a:fontScheme name="Century-微軟正黑體">
      <a:majorFont>
        <a:latin typeface="Century"/>
        <a:ea typeface="微軟正黑體"/>
        <a:cs typeface=""/>
      </a:majorFont>
      <a:minorFont>
        <a:latin typeface="Century"/>
        <a:ea typeface="微軟正黑體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81</TotalTime>
  <Words>572</Words>
  <Application>Microsoft Office PowerPoint</Application>
  <PresentationFormat>寬螢幕</PresentationFormat>
  <Paragraphs>108</Paragraphs>
  <Slides>7</Slides>
  <Notes>7</Notes>
  <HiddenSlides>0</HiddenSlides>
  <MMClips>0</MMClips>
  <ScaleCrop>false</ScaleCrop>
  <HeadingPairs>
    <vt:vector size="6" baseType="variant">
      <vt:variant>
        <vt:lpstr>使用字型</vt:lpstr>
      </vt:variant>
      <vt:variant>
        <vt:i4>4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7</vt:i4>
      </vt:variant>
    </vt:vector>
  </HeadingPairs>
  <TitlesOfParts>
    <vt:vector size="12" baseType="lpstr">
      <vt:lpstr>微軟正黑體</vt:lpstr>
      <vt:lpstr>Arial</vt:lpstr>
      <vt:lpstr>Calibri</vt:lpstr>
      <vt:lpstr>Century</vt:lpstr>
      <vt:lpstr>Office Theme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陳冠升</cp:lastModifiedBy>
  <cp:revision>47</cp:revision>
  <dcterms:created xsi:type="dcterms:W3CDTF">2026-08-14T01:01:31Z</dcterms:created>
  <dcterms:modified xsi:type="dcterms:W3CDTF">2026-08-14T07:05:04Z</dcterms:modified>
</cp:coreProperties>
</file>