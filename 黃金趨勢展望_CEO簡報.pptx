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258" r:id="rId4"/>
    <p:sldId id="259" r:id="rId5"/>
    <p:sldId id="260" r:id="rId6"/>
    <p:sldId id="263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238" autoAdjust="0"/>
  </p:normalViewPr>
  <p:slideViewPr>
    <p:cSldViewPr snapToGrid="0" snapToObjects="1">
      <p:cViewPr varScale="1">
        <p:scale>
          <a:sx n="90" d="100"/>
          <a:sy n="90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3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執行長、各位長官，大家好。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今天要跟大家報告的主題是「黃金趨勢展望」。這次的分析引用了滿多家外資跟中資的研究報告，包括摩根大通、瑞士銀行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UBS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、法國巴黎銀行、中國的中金公司另外我也去抓了</a:t>
            </a:r>
            <a:r>
              <a:rPr lang="zh-TW" altLang="en-US" sz="1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世界黃金協會</a:t>
            </a:r>
            <a:r>
              <a:rPr lang="en-US" altLang="zh-TW" sz="1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WGC</a:t>
            </a:r>
            <a:r>
              <a:rPr lang="zh-TW" altLang="en-US" sz="1800">
                <a:solidFill>
                  <a:schemeClr val="bg1">
                    <a:lumMod val="95000"/>
                  </a:schemeClr>
                </a:solidFill>
                <a:latin typeface="+mn-ea"/>
              </a:rPr>
              <a:t>、</a:t>
            </a:r>
            <a:r>
              <a:rPr lang="zh-TW" altLang="zh-TW" sz="1800" kern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美國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聯準會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FRED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、國際貨幣基金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IMF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、跟美國國會預算辦公室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CBO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的公開數據，交叉驗證過。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那我們直接進入重點。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/>
            <a:endParaRPr lang="en-US" altLang="zh-TW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這一頁講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第一個論點：央行結構性地買黃金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kern="0" dirty="0">
                <a:effectLst/>
                <a:latin typeface="微軟正黑體 Light" panose="020B0304030504040204" pitchFamily="34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2022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年，俄國與烏克蘭爆發衝突後，俄羅斯有超過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3,000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億美元的海外儲備被凍結，這是第一次對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G20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等級的央行做這麼大規模的凍結；摩根大通的報告原文直接寫，地緣政治不穩定，是新興市場央行儲備決策的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首要考量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各國央行以此為鑑，開始提升了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"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去對手方風險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"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的意識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——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白話講就是，大家發現放在別人家的錢可能被凍結，黃金放在自己家最安全；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再來，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反映在數據上，就是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WGC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調查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45%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擴大購金、加上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ECB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報告顯示黃金超車美債；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因此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這就構成了央行的結構性黃金買盤動機。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那下面這三張圖，是實際數據佐證。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左邊這張圖在說明有意願去曾持黃金的各國央行的比例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。大家看得出來，這條線是連續七年往上走，從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2019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年只有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8%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，一路墊高到今年的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45%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這不是一次性的情緒反應，是連續七年的結構性趨勢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中間這張圖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在說明黃金佔黃金占央行總儲備的比重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"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，裡面有三條線：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藍色線是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DM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，也就是已開發國家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；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深灰色線是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EM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，也就是新興市場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；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黑色線是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EM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加計未申報購金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。大家看得出來，不管哪條線，都是一路往右上角走，尤其是黑色這條線，代表如果把新興市場沒有公開申報的購金也算進去，實際的比重比官方數字還要高。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再看右邊這張圖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，是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ECB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的報告，他在比較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ECB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的全球資產儲備比例，一共四個類別分別是黃金、美債、歐元資產、跟其他美元資產。淺藍色是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24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年，山藍色是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25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年。大家看黃金這一組，從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漲到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27%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；美債這一組，反而從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25%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掉到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22%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。這就是呼應這裡，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黃金正式超車美債，變成全球央行第二大儲備資產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這一頁是延續剛剛的央行黃金買盤趨勢，講一個很關鍵、也是摩根大通報告裡我覺得最有意思的機制，叫做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**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「公式化彈性」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**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。原文寫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formulaic elasticity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這個機制大致是在說，各國央行有個黃金總市價占總儲備的目標百分比，在管理部位，也就是我的儲備池內黃金市價要佔比多少。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當黃金價格下跌，既有的黃金市價占比就會自動下掉。因為占比掉了，央行為了達成原本設定的目標占比，就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必須買入更多噸數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才能補回來。於是央行會自動逢低買盤。這意味著黃金降格如果下降了，下方會有各國央行的自動買盤去支撐。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例如，波蘭央行總裁就公開講，他們就是在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"taking advantage of the recent price drops"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，直接講白了就是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逢低加碼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；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kern="0" dirty="0">
                <a:effectLst/>
                <a:latin typeface="微軟正黑體 Light" panose="020B0304030504040204" pitchFamily="34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2026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Q2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黃金價格重挫時期，全球央行的購金數字來到了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289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噸，創同期買量新高。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左邊這張圖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是在比較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中國人行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PBOC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每個月的購金量與黃金的季度均價。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大家可以看到一個很清楚的反向關係：藍色是購買量、紅色是金價。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Q1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金價相對在高檔位置，中國只買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1.2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公噸。後續隨著金價一路走弱，到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月已經買到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公噸，柱子越墊越高，跟紅色虛線代表的價格走勢完全反著走。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右邊這張圖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，則是在談論每個金價所對應的央行黃金買盤需求。他假設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新興市場央行有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25%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黃金占儲備比的目標，在對應的黃金價格，央行所需要的額外購金噸數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。可以清楚看到黃金價格愈低，央行對於黃金的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demand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就更高。在目前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4000-4500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的金價水平，新興市場總體有約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4000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噸黃金的買盤需求。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這一頁換一個角度，講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美國越來越嚴重的財政赤字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，這是資金為什麼會在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"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現在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"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這個時間點轉向避險資產的催化劑。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美國財政赤字結構性正在擴大，從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2022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1.38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兆攀升到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1.85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兆美元；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於是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三大信評機構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——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、惠譽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2023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年、穆迪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2025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——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全數把美國調降到最高評等以下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，這也是使得市場對美元資產的信任邊際減弱。所以資金開始尋求另類的保值資產，黃金是其中一個。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下面這兩張圖是客觀的公開數據 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左邊這張圖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在說明美國的財政赤字佔美國政府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GDP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比例。 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藍色柱子是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2014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到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2025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年美國聯邦財政赤字占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GDP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比重的實際數字，紅色虛線加圓點是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CBO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國會預算辦公室對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2026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年跟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2036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年的官方預測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。大家可以看到，赤字占比長期都在負值，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2025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年是負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5.8%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CBO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預測到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2036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年還會擴大到負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6.7%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2025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5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16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號，穆迪把美國信評從</a:t>
            </a:r>
            <a:r>
              <a:rPr lang="en-US" altLang="zh-TW" sz="1800" b="1" kern="0" dirty="0" err="1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Aaa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調降到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Aa1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，這是三大信評機構史上第一次全部同時失去美國的最高評等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 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右邊這張圖則是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IMF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的報告，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Times New Roman" panose="02020603050405020304" pitchFamily="18" charset="0"/>
              </a:rPr>
              <a:t>美金佔全球各大外匯儲備的比重呈現下滑趨勢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第三個論點，也是非常重要的變數：實質利率跟聯準會的政策路徑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一般而言，美國實際利率愈高，黃金則愈不具備吸引力：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因為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黃金本身不會產生利息；所以當實質利率下降，代表持有黃金的機會成本也跟著下降，因此黃金的吸引力因此上升。最近，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月美國非農就業數據轉負，加上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CPI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符合預期、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PPI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低於預期等，市場覺得聯準會很難繼續維持鷹派立場。到此為止，市場對於聯準會的九月升息機率已經又下調了。我自己也是傾向這個觀點，尤其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11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3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日美國即將迎來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Midterm Elections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，升息如果傷害到股市表現，對於美國是非常不利的。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下面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左邊這張圖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，是美國的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NFP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。可以看到從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2025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年開始，美國的勞動市場一路走疲憊，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月甚至翻負。大家看最右邊這幾根，尤其是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月這一根，明顯是負的。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這一頁我把時間拉長，回頭看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歷史上黃金曾經出現過的三次超級漲價週期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 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第一個週期，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1971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到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1980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，就是布列敦森林體系，也就是金本位瓦解、加上停滯性通膨的年代。金價九年漲幅超過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2,300%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。核心驅動因子是越戰造成的財政赤字、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73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年跟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79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年兩次石油危機、雙位數的通膨、還有美元跟黃金正式脫鉤。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**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這個週期最後怎麼結束的？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**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當時的聯準會主席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Volcker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，把利率一口氣暴力拉到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，強力把實質利率拉正，才終結了這波通膨跟黃金牛市。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第二個週期，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2001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到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2011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，涵蓋達康泡沫破裂、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911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之後的地緣不確定性、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2008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金融海嘯、量化寬鬆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QE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、還有歐債危機。金價漲幅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660%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，歷時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年。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**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這個週期怎麼結束？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**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是系統性壓力緩解之後，聯準會退出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QE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、市場開始預期升息，實質利率回歸正常化，黃金牛市才告一段落。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第三個，也是我們現在正在經歷的這個週期，從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2022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年至今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，背景是後疫情的財政擴張，加上儲備武器化。從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2022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年俄烏戰爭加速起漲那段，漲幅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246%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，只花了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3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年多。核心驅動因子，是後疫情財政跟貨幣雙寬鬆、通膨捲土重來、俄烏戰爭跟儲備凍結的先例、美中地緣競爭、全球債務來到大約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348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兆美元、再加上我們今天前半段講的央行結構性購金機制。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那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這個週期，終結條件出現了嗎？我的判斷是，還沒有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要嘛需要聯準會像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1980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年那樣，強力把實質利率推到限制性區間；要嘛需要財政壓力，像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2011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年之後那樣系統性緩解。</a:t>
            </a:r>
            <a:endParaRPr lang="en-US" altLang="zh-TW" sz="1800" kern="0" dirty="0">
              <a:effectLst/>
              <a:latin typeface="Calibri" panose="020F0502020204030204" pitchFamily="34" charset="0"/>
              <a:ea typeface="微軟正黑體 Light" panose="020B03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這兩個條件，目前都沒看到。所以我傾向於黃金的上漲週期還沒有結束。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7418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我先整理各大機構黃金價格預測比較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，總共四家。摩根大通，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年底看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4,500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美元，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年底看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5,000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美元，沒有給明確的上下緣區間。瑞士銀行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UBS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年底跟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年底都看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5,000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美元。法國巴黎銀行，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年底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4,700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美元，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年底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5,330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美元。中金公司，只看到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2026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4,800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美元，沒有給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2027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年的數字。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kern="0" dirty="0">
                <a:effectLst/>
                <a:latin typeface="微軟正黑體 Light" panose="020B0304030504040204" pitchFamily="34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 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大家可以看到，四家機構的方向是一致看多的。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kern="0" dirty="0">
                <a:effectLst/>
                <a:latin typeface="微軟正黑體 Light" panose="020B0304030504040204" pitchFamily="34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 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右下這個深藍色的結論框，是我今天想留給大家的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結論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：</a:t>
            </a:r>
            <a:r>
              <a:rPr lang="zh-TW" altLang="zh-TW" sz="1800" b="1" kern="10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Times New Roman" panose="02020603050405020304" pitchFamily="18" charset="0"/>
              </a:rPr>
              <a:t>因為各國央行長期增加黃金儲備的趨勢、對美國財政的不信任、聯準會升息預期下降，黃金整體有足夠的上漲動能。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微軟正黑體 Light" panose="020B0304030504040204" pitchFamily="34" charset="-120"/>
                <a:cs typeface="新細明體" panose="02020500000000000000" pitchFamily="18" charset="-120"/>
              </a:rPr>
              <a:t>以上是我今天的報告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4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alpha val="21000"/>
                </a:schemeClr>
              </a:gs>
              <a:gs pos="66000">
                <a:schemeClr val="accent1">
                  <a:lumMod val="95000"/>
                  <a:lumOff val="5000"/>
                  <a:alpha val="43000"/>
                </a:schemeClr>
              </a:gs>
              <a:gs pos="100000">
                <a:srgbClr val="002060">
                  <a:alpha val="94000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headEnd type="none"/>
            <a:tailEnd type="none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AutoShape 4"/>
          <p:cNvSpPr/>
          <p:nvPr/>
        </p:nvSpPr>
        <p:spPr>
          <a:xfrm>
            <a:off x="761810" y="2216497"/>
            <a:ext cx="418996" cy="19050"/>
          </a:xfrm>
          <a:prstGeom prst="rect">
            <a:avLst/>
          </a:prstGeom>
          <a:solidFill>
            <a:srgbClr val="C8A95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761810" y="3265141"/>
            <a:ext cx="609448" cy="28575"/>
          </a:xfrm>
          <a:prstGeom prst="roundRect">
            <a:avLst>
              <a:gd name="adj" fmla="val 50000"/>
            </a:avLst>
          </a:prstGeom>
          <a:solidFill>
            <a:srgbClr val="C8A95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F3440FDD-9B97-47F6-9DC8-2562FF112647}"/>
              </a:ext>
            </a:extLst>
          </p:cNvPr>
          <p:cNvSpPr/>
          <p:nvPr/>
        </p:nvSpPr>
        <p:spPr>
          <a:xfrm>
            <a:off x="761810" y="2338864"/>
            <a:ext cx="6302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黃金趨勢展望</a:t>
            </a:r>
            <a:r>
              <a:rPr lang="en-US" sz="3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Gold Prospects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2F1948-843A-4EDF-9D76-8BFB818AC8BF}"/>
              </a:ext>
            </a:extLst>
          </p:cNvPr>
          <p:cNvSpPr/>
          <p:nvPr/>
        </p:nvSpPr>
        <p:spPr>
          <a:xfrm>
            <a:off x="649842" y="3841418"/>
            <a:ext cx="6302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050" name="Picture 2" descr="Richart - 登入">
            <a:extLst>
              <a:ext uri="{FF2B5EF4-FFF2-40B4-BE49-F238E27FC236}">
                <a16:creationId xmlns:a16="http://schemas.microsoft.com/office/drawing/2014/main" id="{103EEA4E-A9AB-4FD9-BB80-3E62D856B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204" y="3841418"/>
            <a:ext cx="3444163" cy="294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7C6B29B-D960-4217-9704-B9CA125CB16B}"/>
              </a:ext>
            </a:extLst>
          </p:cNvPr>
          <p:cNvSpPr txBox="1"/>
          <p:nvPr/>
        </p:nvSpPr>
        <p:spPr>
          <a:xfrm>
            <a:off x="120122" y="4663002"/>
            <a:ext cx="651134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參考資料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JPM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  <a:cs typeface="Microsoft JhengHei" pitchFamily="34" charset="-120"/>
              </a:rPr>
              <a:t> 《Metals Weekly》(10 Jul 2026) 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UBS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  <a:cs typeface="Microsoft JhengHei" pitchFamily="34" charset="-120"/>
              </a:rPr>
              <a:t>UBS, "China Precious Metals" (10 Aug 2026)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PNP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Paris,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Gold: US rate expectation a </a:t>
            </a:r>
            <a:r>
              <a:rPr lang="en-US" altLang="zh-TW" sz="1200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headwin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, 15 Jul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中金公司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, 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中金大宗商品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10 Aug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參考數據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世界黃金協會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WGC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美國聯準會經濟數字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FRED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國際貨幣基金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IMF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200" kern="0" dirty="0">
                <a:solidFill>
                  <a:schemeClr val="bg1">
                    <a:lumMod val="95000"/>
                  </a:schemeClr>
                </a:solidFill>
                <a:effectLst/>
                <a:latin typeface="+mn-ea"/>
                <a:cs typeface="新細明體" panose="02020500000000000000" pitchFamily="18" charset="-120"/>
              </a:rPr>
              <a:t>美國國會預算辦公室</a:t>
            </a:r>
            <a:r>
              <a:rPr lang="en-US" altLang="zh-TW" sz="1200" kern="0" dirty="0">
                <a:solidFill>
                  <a:schemeClr val="bg1">
                    <a:lumMod val="95000"/>
                  </a:schemeClr>
                </a:solidFill>
                <a:effectLst/>
                <a:latin typeface="+mn-ea"/>
                <a:cs typeface="新細明體" panose="02020500000000000000" pitchFamily="18" charset="-120"/>
              </a:rPr>
              <a:t>CBO</a:t>
            </a:r>
            <a:endParaRPr lang="zh-TW" altLang="en-US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3" y="310896"/>
            <a:ext cx="8731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論點一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．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央行</a:t>
            </a: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結構驅動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與去美元化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Central Bank Structural Drivers and De-</a:t>
            </a:r>
            <a:r>
              <a:rPr lang="en-US" altLang="zh-TW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dollarisation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央行結構性購金，去美元化持續進行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2022年俄羅斯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儲備遭西方凍結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各國央行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「去對手方風險」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意識提升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WGC調查：45%擴大購金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ECB：黃金超車美債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結構性多頭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買盤確立</a:t>
            </a:r>
            <a:endParaRPr lang="en-US" sz="1200" dirty="0"/>
          </a:p>
        </p:txBody>
      </p:sp>
      <p:pic>
        <p:nvPicPr>
          <p:cNvPr id="16" name="Image 0" descr="img/wgc_survey.png"/>
          <p:cNvPicPr>
            <a:picLocks noChangeAspect="1"/>
          </p:cNvPicPr>
          <p:nvPr/>
        </p:nvPicPr>
        <p:blipFill rotWithShape="1">
          <a:blip r:embed="rId3"/>
          <a:srcRect b="13708"/>
          <a:stretch/>
        </p:blipFill>
        <p:spPr>
          <a:xfrm>
            <a:off x="283631" y="2889741"/>
            <a:ext cx="3882216" cy="286093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1752" y="2188963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2022年俄羅斯逾3,000億美元海外儲備遭凍結，首開對G20央行大規模儲備凍結先例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JPM原文：地緣政治不穩定「remain primary considerations」——為新興市場央行儲備決策首要考量（Metals Weekly, p.3）</a:t>
            </a:r>
          </a:p>
          <a:p>
            <a:pPr>
              <a:lnSpc>
                <a:spcPct val="108000"/>
              </a:lnSpc>
              <a:spcAft>
                <a:spcPts val="500"/>
              </a:spcAft>
              <a:buSzPct val="100000"/>
            </a:pPr>
            <a:endParaRPr lang="en-US" altLang="zh-TW" sz="1400" dirty="0"/>
          </a:p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資料來源：J.P. Morgan《Metals Weekly》(10 Jul 2026) p.2-3；ECB, "The International Role of the Euro" (2 Jun 2026)；World Gold Council 2026 Survey；Reuters (14 Oct 2025)。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06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13805" y="6296669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D90919D-6CFA-4505-9EC7-F74AB26CD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839" y="3117429"/>
            <a:ext cx="3692881" cy="2581221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424C5627-FDB8-4D95-B270-2CE47AF78400}"/>
              </a:ext>
            </a:extLst>
          </p:cNvPr>
          <p:cNvSpPr txBox="1"/>
          <p:nvPr/>
        </p:nvSpPr>
        <p:spPr>
          <a:xfrm>
            <a:off x="134687" y="5698650"/>
            <a:ext cx="4031160" cy="46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世界黃金委員會</a:t>
            </a:r>
            <a:r>
              <a:rPr lang="en-US" altLang="zh-TW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(WGC)：未來12個月</a:t>
            </a: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</a:t>
            </a:r>
            <a:r>
              <a:rPr lang="en-US" altLang="zh-TW" sz="1200" dirty="0" err="1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增持黃金</a:t>
            </a: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</a:t>
            </a:r>
            <a:r>
              <a:rPr lang="en-US" altLang="zh-TW" sz="1200" dirty="0" err="1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的央行比例，創歷史新高</a:t>
            </a: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，來到</a:t>
            </a:r>
            <a:r>
              <a:rPr lang="en-US" altLang="zh-TW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45%</a:t>
            </a:r>
            <a:endParaRPr lang="en-US" altLang="zh-TW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9C70723-C49A-4717-ADE1-7D21A99BBF12}"/>
              </a:ext>
            </a:extLst>
          </p:cNvPr>
          <p:cNvSpPr txBox="1"/>
          <p:nvPr/>
        </p:nvSpPr>
        <p:spPr>
          <a:xfrm>
            <a:off x="4356839" y="5714625"/>
            <a:ext cx="3855490" cy="46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黃金佔已開發和發展中經濟體的央行儲備比例呈現穩固的上漲趨勢</a:t>
            </a:r>
            <a:endParaRPr lang="en-US" altLang="zh-TW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6" name="Image 1" descr="img/ecb_gold_ust.png">
            <a:extLst>
              <a:ext uri="{FF2B5EF4-FFF2-40B4-BE49-F238E27FC236}">
                <a16:creationId xmlns:a16="http://schemas.microsoft.com/office/drawing/2014/main" id="{235F9008-2CA1-4CAE-A74F-2EFDD8F03C4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612"/>
          <a:stretch/>
        </p:blipFill>
        <p:spPr>
          <a:xfrm>
            <a:off x="8355724" y="2961570"/>
            <a:ext cx="3552645" cy="2752289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3D65284E-6495-423A-AED2-BD39165F5AE2}"/>
              </a:ext>
            </a:extLst>
          </p:cNvPr>
          <p:cNvSpPr txBox="1"/>
          <p:nvPr/>
        </p:nvSpPr>
        <p:spPr>
          <a:xfrm>
            <a:off x="8353020" y="5698650"/>
            <a:ext cx="3704293" cy="46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altLang="zh-TW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2025</a:t>
            </a: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年，</a:t>
            </a:r>
            <a:r>
              <a:rPr lang="en-US" altLang="zh-TW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ECB</a:t>
            </a: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全球儲備資產池，黃金已經超越了美債，是</a:t>
            </a:r>
            <a:r>
              <a:rPr lang="en-US" altLang="zh-TW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1996</a:t>
            </a:r>
            <a:r>
              <a:rPr lang="zh-TW" altLang="en-US" sz="12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年以來首見</a:t>
            </a:r>
            <a:endParaRPr lang="en-US" altLang="zh-TW" sz="1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9790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論點一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．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摩根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機械式黃金儲備機制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Formulaic,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self-corrected elasticity of gold reserves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金價下跌，反而觸發更多買盤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金價下跌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既有黃金占比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機械性侵蝕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需買入更多噸數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才能達成目標占比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央行逢低買盤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增強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52044" y="5468112"/>
            <a:ext cx="5474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資料來源：J.P. Morgan《Metals Weekly》(10 Jul 2026) p.5-7；UBS, "China Precious Metals" (10 Aug 2026)；PBoC／SAFE官方數據。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06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B78D51F-0576-464E-B704-762C55B21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76" y="2545583"/>
            <a:ext cx="5236826" cy="2942776"/>
          </a:xfrm>
          <a:prstGeom prst="rect">
            <a:avLst/>
          </a:prstGeom>
        </p:spPr>
      </p:pic>
      <p:pic>
        <p:nvPicPr>
          <p:cNvPr id="18" name="Image 0" descr="img/pboc_updated.png"/>
          <p:cNvPicPr>
            <a:picLocks noChangeAspect="1"/>
          </p:cNvPicPr>
          <p:nvPr/>
        </p:nvPicPr>
        <p:blipFill rotWithShape="1">
          <a:blip r:embed="rId4"/>
          <a:srcRect r="15724"/>
          <a:stretch/>
        </p:blipFill>
        <p:spPr>
          <a:xfrm>
            <a:off x="384564" y="2545583"/>
            <a:ext cx="5204308" cy="3084560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537E61EC-795A-47A7-80C1-C46937CB1FD7}"/>
              </a:ext>
            </a:extLst>
          </p:cNvPr>
          <p:cNvSpPr txBox="1"/>
          <p:nvPr/>
        </p:nvSpPr>
        <p:spPr>
          <a:xfrm>
            <a:off x="6192076" y="5563824"/>
            <a:ext cx="5512244" cy="77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SzPct val="100000"/>
            </a:pPr>
            <a:r>
              <a:rPr lang="zh-TW" altLang="zh-TW" sz="1400" kern="0" dirty="0">
                <a:effectLst/>
                <a:latin typeface="+mn-ea"/>
                <a:cs typeface="新細明體" panose="02020500000000000000" pitchFamily="18" charset="-120"/>
              </a:rPr>
              <a:t>黃金價格愈低，央行對於黃金的</a:t>
            </a:r>
            <a:r>
              <a:rPr lang="en-US" altLang="zh-TW" sz="1400" kern="0" dirty="0">
                <a:effectLst/>
                <a:latin typeface="+mn-ea"/>
                <a:cs typeface="新細明體" panose="02020500000000000000" pitchFamily="18" charset="-120"/>
              </a:rPr>
              <a:t>demand</a:t>
            </a:r>
            <a:r>
              <a:rPr lang="zh-TW" altLang="zh-TW" sz="1400" kern="0" dirty="0">
                <a:effectLst/>
                <a:latin typeface="+mn-ea"/>
                <a:cs typeface="新細明體" panose="02020500000000000000" pitchFamily="18" charset="-120"/>
              </a:rPr>
              <a:t>就更高。在目前</a:t>
            </a:r>
            <a:r>
              <a:rPr lang="en-US" altLang="zh-TW" sz="1400" kern="0" dirty="0">
                <a:effectLst/>
                <a:latin typeface="+mn-ea"/>
                <a:cs typeface="新細明體" panose="02020500000000000000" pitchFamily="18" charset="-120"/>
              </a:rPr>
              <a:t>4000-4500</a:t>
            </a:r>
            <a:r>
              <a:rPr lang="zh-TW" altLang="zh-TW" sz="1400" kern="0" dirty="0">
                <a:effectLst/>
                <a:latin typeface="+mn-ea"/>
                <a:cs typeface="新細明體" panose="02020500000000000000" pitchFamily="18" charset="-120"/>
              </a:rPr>
              <a:t>的金價水平，新興市場總體有約</a:t>
            </a:r>
            <a:r>
              <a:rPr lang="en-US" altLang="zh-TW" sz="1400" kern="0" dirty="0">
                <a:effectLst/>
                <a:latin typeface="+mn-ea"/>
                <a:cs typeface="新細明體" panose="02020500000000000000" pitchFamily="18" charset="-120"/>
              </a:rPr>
              <a:t>4000</a:t>
            </a:r>
            <a:r>
              <a:rPr lang="zh-TW" altLang="zh-TW" sz="1400" kern="0" dirty="0">
                <a:effectLst/>
                <a:latin typeface="+mn-ea"/>
                <a:cs typeface="新細明體" panose="02020500000000000000" pitchFamily="18" charset="-120"/>
              </a:rPr>
              <a:t>噸黃金的買盤需求</a:t>
            </a:r>
            <a:r>
              <a:rPr lang="zh-TW" altLang="en-US" sz="1400" kern="0" dirty="0">
                <a:effectLst/>
                <a:latin typeface="+mn-ea"/>
                <a:cs typeface="新細明體" panose="02020500000000000000" pitchFamily="18" charset="-120"/>
              </a:rPr>
              <a:t>。金價愈跌，買盤需求甚至翻倍。</a:t>
            </a:r>
            <a:endParaRPr lang="en-US" altLang="zh-TW" sz="1400" dirty="0">
              <a:latin typeface="+mn-ea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C3CC556-C47D-4BC4-8090-B3FEE64A50F1}"/>
              </a:ext>
            </a:extLst>
          </p:cNvPr>
          <p:cNvSpPr txBox="1"/>
          <p:nvPr/>
        </p:nvSpPr>
        <p:spPr>
          <a:xfrm>
            <a:off x="530352" y="1976644"/>
            <a:ext cx="104360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chemeClr val="tx2">
                    <a:lumMod val="50000"/>
                  </a:schemeClr>
                </a:solidFill>
                <a:latin typeface="+mn-ea"/>
                <a:cs typeface="Microsoft JhengHei" pitchFamily="34" charset="-120"/>
              </a:rPr>
              <a:t>波蘭2026年迄今已購入82公噸，朝700公噸目標邁進；總裁公開表示正taking advantage of the recent price drops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2026</a:t>
            </a:r>
            <a:r>
              <a:rPr lang="zh-TW" altLang="en-US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年</a:t>
            </a:r>
            <a:r>
              <a:rPr lang="en-US" altLang="zh-TW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Q2</a:t>
            </a:r>
            <a:r>
              <a:rPr lang="zh-TW" altLang="en-US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全球央行淨購金來到</a:t>
            </a:r>
            <a:r>
              <a:rPr lang="en-US" altLang="zh-TW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289</a:t>
            </a:r>
            <a:r>
              <a:rPr lang="zh-TW" altLang="en-US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公噸，創同期新高（金價當季重挫約</a:t>
            </a:r>
            <a:r>
              <a:rPr lang="en-US" altLang="zh-TW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16%</a:t>
            </a:r>
            <a:r>
              <a:rPr lang="zh-TW" altLang="en-US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期間）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D607768-516F-43E4-AE25-570A350C591F}"/>
              </a:ext>
            </a:extLst>
          </p:cNvPr>
          <p:cNvSpPr txBox="1"/>
          <p:nvPr/>
        </p:nvSpPr>
        <p:spPr>
          <a:xfrm>
            <a:off x="697244" y="5702823"/>
            <a:ext cx="5020384" cy="307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SzPct val="100000"/>
            </a:pPr>
            <a:r>
              <a:rPr lang="zh-TW" altLang="en-US" sz="1400" dirty="0"/>
              <a:t>中國人民銀行</a:t>
            </a:r>
            <a:r>
              <a:rPr lang="en-US" altLang="zh-TW" sz="1400" dirty="0"/>
              <a:t>PBCO</a:t>
            </a:r>
            <a:r>
              <a:rPr lang="zh-TW" altLang="en-US" sz="1400" dirty="0"/>
              <a:t>在金價偏低的時候大量買入黃金儲備</a:t>
            </a:r>
            <a:endParaRPr lang="en-US" altLang="zh-TW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論點二．總經催化劑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US Financial Deficit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美國財政赤字逐年擴大，市場對美元資產的信任邊際減弱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財政赤字結構性擴大</a:t>
            </a:r>
            <a:endParaRPr lang="en-US" sz="12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年的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1.38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兆攀升到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年的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1.85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兆美元，約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GPD6.2%)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三大信評機構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全數調降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(2023/2025)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市場對美元資產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信任邊際減弱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chemeClr val="accent2">
              <a:lumMod val="50000"/>
            </a:schemeClr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資金尋求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另類保值資產</a:t>
            </a:r>
            <a:endParaRPr lang="en-US" sz="1200" dirty="0"/>
          </a:p>
        </p:txBody>
      </p:sp>
      <p:pic>
        <p:nvPicPr>
          <p:cNvPr id="17" name="Image 1" descr="img/us_defici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42788"/>
            <a:ext cx="5336896" cy="323986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 err="1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資料來源：CBO</a:t>
            </a: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 "Budget and Economic Outlook 2026-2036" (Feb 2026)；Moody's Ratings (16 May 2025)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06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B594382-D200-4D5E-A7D5-B6389FA6526F}"/>
              </a:ext>
            </a:extLst>
          </p:cNvPr>
          <p:cNvSpPr txBox="1"/>
          <p:nvPr/>
        </p:nvSpPr>
        <p:spPr>
          <a:xfrm>
            <a:off x="457200" y="5643503"/>
            <a:ext cx="5483200" cy="540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SzPct val="100000"/>
            </a:pPr>
            <a:r>
              <a:rPr lang="zh-TW" altLang="en-US" sz="1400" dirty="0"/>
              <a:t>美國的財政赤字佔</a:t>
            </a:r>
            <a:r>
              <a:rPr lang="en-US" altLang="zh-TW" sz="1400" dirty="0"/>
              <a:t>GPD</a:t>
            </a:r>
            <a:r>
              <a:rPr lang="zh-TW" altLang="en-US" sz="1400" dirty="0"/>
              <a:t>的比重愈來愈大，</a:t>
            </a:r>
            <a:r>
              <a:rPr lang="en-US" altLang="zh-TW" sz="1400" dirty="0"/>
              <a:t>CPO</a:t>
            </a:r>
            <a:r>
              <a:rPr lang="zh-TW" altLang="en-US" sz="1400" dirty="0"/>
              <a:t>也預估這個比例只會愈來愈大</a:t>
            </a:r>
            <a:endParaRPr lang="en-US" altLang="zh-TW" sz="1400" dirty="0"/>
          </a:p>
        </p:txBody>
      </p:sp>
      <p:pic>
        <p:nvPicPr>
          <p:cNvPr id="29" name="Image 0" descr="img/cofer_usd_share.png">
            <a:extLst>
              <a:ext uri="{FF2B5EF4-FFF2-40B4-BE49-F238E27FC236}">
                <a16:creationId xmlns:a16="http://schemas.microsoft.com/office/drawing/2014/main" id="{F1EEF063-9BB6-429D-81F3-ABB2A3CF6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64" y="2377004"/>
            <a:ext cx="5446356" cy="3050786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B990C509-6141-4473-90AA-17447AC849E9}"/>
              </a:ext>
            </a:extLst>
          </p:cNvPr>
          <p:cNvSpPr txBox="1"/>
          <p:nvPr/>
        </p:nvSpPr>
        <p:spPr>
          <a:xfrm>
            <a:off x="6829512" y="5677069"/>
            <a:ext cx="4303260" cy="307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SzPct val="100000"/>
            </a:pPr>
            <a:r>
              <a:rPr lang="zh-TW" altLang="en-US" sz="1400" dirty="0"/>
              <a:t>美金佔全球各大外匯儲備的比重呈現下滑趨勢</a:t>
            </a:r>
            <a:endParaRPr lang="en-US" altLang="zh-TW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論點三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．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美國利率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實質利率與Fed路徑：短期最主要的邊際定價因子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無產生利</a:t>
            </a: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實質利率↓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＝機會成本↓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黃金吸引力↑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7月NFP轉負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Fed難維持鷹派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06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12AD1D62-5724-439E-A009-5A77D0F44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363" y="2126516"/>
            <a:ext cx="6483740" cy="3497044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C46507E8-F50E-49E8-80E6-3DC9078D7745}"/>
              </a:ext>
            </a:extLst>
          </p:cNvPr>
          <p:cNvSpPr txBox="1"/>
          <p:nvPr/>
        </p:nvSpPr>
        <p:spPr>
          <a:xfrm>
            <a:off x="2008553" y="5748659"/>
            <a:ext cx="6179671" cy="307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buSzPct val="100000"/>
            </a:pPr>
            <a:r>
              <a:rPr lang="zh-TW" altLang="en-US" sz="1400" dirty="0"/>
              <a:t>美國的勞動市場從</a:t>
            </a:r>
            <a:r>
              <a:rPr lang="en-US" altLang="zh-TW" sz="1400" dirty="0"/>
              <a:t>2025</a:t>
            </a:r>
            <a:r>
              <a:rPr lang="zh-TW" altLang="en-US" sz="1400" dirty="0"/>
              <a:t>年以後一路走疲，在</a:t>
            </a:r>
            <a:r>
              <a:rPr lang="en-US" altLang="zh-TW" sz="1400" dirty="0"/>
              <a:t>2026</a:t>
            </a:r>
            <a:r>
              <a:rPr lang="zh-TW" altLang="en-US" sz="1400" dirty="0"/>
              <a:t>年</a:t>
            </a:r>
            <a:r>
              <a:rPr lang="en-US" altLang="zh-TW" sz="1400" dirty="0"/>
              <a:t>7</a:t>
            </a:r>
            <a:r>
              <a:rPr lang="zh-TW" altLang="en-US" sz="1400" dirty="0"/>
              <a:t>月的最新</a:t>
            </a:r>
            <a:r>
              <a:rPr lang="en-US" altLang="zh-TW" sz="1400" dirty="0"/>
              <a:t>NFP</a:t>
            </a:r>
            <a:r>
              <a:rPr lang="zh-TW" altLang="en-US" sz="1400" dirty="0"/>
              <a:t>甚至轉負</a:t>
            </a:r>
            <a:endParaRPr lang="en-US" altLang="zh-TW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E7CE97-9ED2-4D5D-800E-8781105EB497}"/>
              </a:ext>
            </a:extLst>
          </p:cNvPr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76921F-F974-49CA-B0C4-27A93B45B4E6}"/>
              </a:ext>
            </a:extLst>
          </p:cNvPr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歷史宏觀分析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Macroeconomic Retrospectives and Analysis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1EBA88-E292-416E-82E4-5D696D4E8E03}"/>
              </a:ext>
            </a:extLst>
          </p:cNvPr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歷史上，三次黃金上升超級週期都有的核心驅動邏輯 </a:t>
            </a:r>
            <a:r>
              <a:rPr lang="en-US" altLang="zh-TW" sz="2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</a:t>
            </a:r>
            <a:r>
              <a:rPr lang="zh-TW" altLang="en-US" sz="2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實質利率、貨幣信任、地緣政治壓力</a:t>
            </a:r>
            <a:endParaRPr lang="en-US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88A10B-3EF7-416F-BFE6-A661D8A0E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78644"/>
              </p:ext>
            </p:extLst>
          </p:nvPr>
        </p:nvGraphicFramePr>
        <p:xfrm>
          <a:off x="964384" y="1318777"/>
          <a:ext cx="9502806" cy="4946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8599">
                  <a:extLst>
                    <a:ext uri="{9D8B030D-6E8A-4147-A177-3AD203B41FA5}">
                      <a16:colId xmlns:a16="http://schemas.microsoft.com/office/drawing/2014/main" val="2179292423"/>
                    </a:ext>
                  </a:extLst>
                </a:gridCol>
                <a:gridCol w="2337588">
                  <a:extLst>
                    <a:ext uri="{9D8B030D-6E8A-4147-A177-3AD203B41FA5}">
                      <a16:colId xmlns:a16="http://schemas.microsoft.com/office/drawing/2014/main" val="3395844011"/>
                    </a:ext>
                  </a:extLst>
                </a:gridCol>
                <a:gridCol w="2947394">
                  <a:extLst>
                    <a:ext uri="{9D8B030D-6E8A-4147-A177-3AD203B41FA5}">
                      <a16:colId xmlns:a16="http://schemas.microsoft.com/office/drawing/2014/main" val="4151513151"/>
                    </a:ext>
                  </a:extLst>
                </a:gridCol>
                <a:gridCol w="2439225">
                  <a:extLst>
                    <a:ext uri="{9D8B030D-6E8A-4147-A177-3AD203B41FA5}">
                      <a16:colId xmlns:a16="http://schemas.microsoft.com/office/drawing/2014/main" val="2189648756"/>
                    </a:ext>
                  </a:extLst>
                </a:gridCol>
              </a:tblGrid>
              <a:tr h="575696"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effectLst/>
                        </a:rPr>
                        <a:t>週期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effectLst/>
                        </a:rPr>
                        <a:t>漲幅與時長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effectLst/>
                        </a:rPr>
                        <a:t>核心</a:t>
                      </a:r>
                      <a:r>
                        <a:rPr lang="zh-TW" altLang="en-US" sz="1400" dirty="0">
                          <a:effectLst/>
                        </a:rPr>
                        <a:t>黃金上漲</a:t>
                      </a:r>
                      <a:r>
                        <a:rPr lang="zh-TW" sz="1400" dirty="0">
                          <a:effectLst/>
                        </a:rPr>
                        <a:t>驅動因子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effectLst/>
                        </a:rPr>
                        <a:t>上漲</a:t>
                      </a:r>
                      <a:r>
                        <a:rPr lang="zh-TW" sz="1400" dirty="0">
                          <a:effectLst/>
                        </a:rPr>
                        <a:t>週期終結</a:t>
                      </a:r>
                      <a:r>
                        <a:rPr lang="zh-TW" altLang="en-US" sz="1400" dirty="0">
                          <a:effectLst/>
                        </a:rPr>
                        <a:t>原因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854193"/>
                  </a:ext>
                </a:extLst>
              </a:tr>
              <a:tr h="122742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週期一</a:t>
                      </a:r>
                      <a:r>
                        <a:rPr lang="en-US" sz="1400" dirty="0">
                          <a:effectLst/>
                        </a:rPr>
                        <a:t> 1971–1980 </a:t>
                      </a:r>
                      <a:r>
                        <a:rPr lang="zh-TW" sz="1400" dirty="0">
                          <a:effectLst/>
                        </a:rPr>
                        <a:t>布列敦森林</a:t>
                      </a:r>
                      <a:r>
                        <a:rPr lang="en-US" altLang="zh-TW" sz="1400" dirty="0">
                          <a:effectLst/>
                        </a:rPr>
                        <a:t>(Bretton Woods)</a:t>
                      </a:r>
                      <a:r>
                        <a:rPr lang="zh-TW" sz="1400" dirty="0">
                          <a:effectLst/>
                        </a:rPr>
                        <a:t>瓦解／停滯性通膨</a:t>
                      </a:r>
                      <a:r>
                        <a:rPr lang="en-US" altLang="zh-TW" sz="1400" dirty="0">
                          <a:effectLst/>
                        </a:rPr>
                        <a:t>(Stagflation)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約</a:t>
                      </a:r>
                      <a:r>
                        <a:rPr lang="en-US" sz="1400" dirty="0">
                          <a:effectLst/>
                        </a:rPr>
                        <a:t> $35 → $850 +2,329%</a:t>
                      </a:r>
                      <a:r>
                        <a:rPr lang="zh-TW" sz="1400" dirty="0">
                          <a:effectLst/>
                        </a:rPr>
                        <a:t>，歷時約</a:t>
                      </a:r>
                      <a:r>
                        <a:rPr lang="en-US" sz="1400" dirty="0">
                          <a:effectLst/>
                        </a:rPr>
                        <a:t>9</a:t>
                      </a:r>
                      <a:r>
                        <a:rPr lang="zh-TW" sz="1400" dirty="0">
                          <a:effectLst/>
                        </a:rPr>
                        <a:t>年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越戰財政赤字、</a:t>
                      </a:r>
                      <a:r>
                        <a:rPr lang="en-US" sz="1400" dirty="0">
                          <a:effectLst/>
                        </a:rPr>
                        <a:t>1973</a:t>
                      </a:r>
                      <a:r>
                        <a:rPr lang="zh-TW" sz="1400" dirty="0">
                          <a:effectLst/>
                        </a:rPr>
                        <a:t>／</a:t>
                      </a:r>
                      <a:r>
                        <a:rPr lang="en-US" sz="1400" dirty="0">
                          <a:effectLst/>
                        </a:rPr>
                        <a:t>79</a:t>
                      </a:r>
                      <a:r>
                        <a:rPr lang="zh-TW" sz="1400" dirty="0">
                          <a:effectLst/>
                        </a:rPr>
                        <a:t>石油危機、雙位數通膨、美元與黃金脫鉤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en-US" sz="1400">
                          <a:effectLst/>
                        </a:rPr>
                        <a:t>Fed</a:t>
                      </a:r>
                      <a:r>
                        <a:rPr lang="zh-TW" sz="1400">
                          <a:effectLst/>
                        </a:rPr>
                        <a:t>主席</a:t>
                      </a:r>
                      <a:r>
                        <a:rPr lang="en-US" sz="1400">
                          <a:effectLst/>
                        </a:rPr>
                        <a:t>Volcker</a:t>
                      </a:r>
                      <a:r>
                        <a:rPr lang="zh-TW" sz="1400">
                          <a:effectLst/>
                        </a:rPr>
                        <a:t>將利率大幅推升至</a:t>
                      </a:r>
                      <a:r>
                        <a:rPr lang="en-US" sz="1400">
                          <a:effectLst/>
                        </a:rPr>
                        <a:t>20%</a:t>
                      </a:r>
                      <a:r>
                        <a:rPr lang="zh-TW" sz="1400">
                          <a:effectLst/>
                        </a:rPr>
                        <a:t>，強力拉高實質利率，終結通膨與黃金牛市</a:t>
                      </a:r>
                      <a:endParaRPr lang="zh-TW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368690"/>
                  </a:ext>
                </a:extLst>
              </a:tr>
              <a:tr h="123251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週期二</a:t>
                      </a:r>
                      <a:r>
                        <a:rPr lang="en-US" sz="1400" dirty="0">
                          <a:effectLst/>
                        </a:rPr>
                        <a:t> 2001–2011 </a:t>
                      </a:r>
                      <a:r>
                        <a:rPr lang="zh-TW" sz="1400" dirty="0">
                          <a:effectLst/>
                        </a:rPr>
                        <a:t>達康泡沫／金融危機／</a:t>
                      </a:r>
                      <a:r>
                        <a:rPr lang="zh-TW" altLang="en-US" sz="1400" dirty="0">
                          <a:effectLst/>
                        </a:rPr>
                        <a:t>量化寬鬆</a:t>
                      </a:r>
                      <a:r>
                        <a:rPr lang="en-US" altLang="zh-TW" sz="1400" dirty="0">
                          <a:effectLst/>
                        </a:rPr>
                        <a:t>QE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約</a:t>
                      </a:r>
                      <a:r>
                        <a:rPr lang="en-US" sz="1400" dirty="0">
                          <a:effectLst/>
                        </a:rPr>
                        <a:t> $250 → $1,920 +660%</a:t>
                      </a:r>
                      <a:r>
                        <a:rPr lang="zh-TW" sz="1400" dirty="0">
                          <a:effectLst/>
                        </a:rPr>
                        <a:t>，歷時約</a:t>
                      </a:r>
                      <a:r>
                        <a:rPr lang="en-US" sz="1400" dirty="0">
                          <a:effectLst/>
                        </a:rPr>
                        <a:t>10</a:t>
                      </a:r>
                      <a:r>
                        <a:rPr lang="zh-TW" sz="1400" dirty="0">
                          <a:effectLst/>
                        </a:rPr>
                        <a:t>年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達康泡沫破裂、</a:t>
                      </a:r>
                      <a:r>
                        <a:rPr lang="en-US" sz="1400" dirty="0">
                          <a:effectLst/>
                        </a:rPr>
                        <a:t>911</a:t>
                      </a:r>
                      <a:r>
                        <a:rPr lang="zh-TW" sz="1400" dirty="0">
                          <a:effectLst/>
                        </a:rPr>
                        <a:t>地緣不確定性、</a:t>
                      </a:r>
                      <a:r>
                        <a:rPr lang="en-US" sz="1400" dirty="0">
                          <a:effectLst/>
                        </a:rPr>
                        <a:t>2008</a:t>
                      </a:r>
                      <a:r>
                        <a:rPr lang="zh-TW" sz="1400" dirty="0">
                          <a:effectLst/>
                        </a:rPr>
                        <a:t>金融危機、量化寬鬆、歐債危機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系統性壓力緩解，</a:t>
                      </a:r>
                      <a:r>
                        <a:rPr lang="en-US" sz="1400" dirty="0">
                          <a:effectLst/>
                        </a:rPr>
                        <a:t>Fed</a:t>
                      </a:r>
                      <a:r>
                        <a:rPr lang="zh-TW" sz="1400" dirty="0">
                          <a:effectLst/>
                        </a:rPr>
                        <a:t>退出</a:t>
                      </a:r>
                      <a:r>
                        <a:rPr lang="en-US" sz="1400" dirty="0">
                          <a:effectLst/>
                        </a:rPr>
                        <a:t>QE</a:t>
                      </a:r>
                      <a:r>
                        <a:rPr lang="zh-TW" sz="1400" dirty="0">
                          <a:effectLst/>
                        </a:rPr>
                        <a:t>、啟動升息預期，實質利率回歸正常化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4629"/>
                  </a:ext>
                </a:extLst>
              </a:tr>
              <a:tr h="1910843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週期三</a:t>
                      </a:r>
                      <a:r>
                        <a:rPr lang="en-US" sz="1400" dirty="0">
                          <a:effectLst/>
                        </a:rPr>
                        <a:t> 2022</a:t>
                      </a:r>
                      <a:r>
                        <a:rPr lang="zh-TW" sz="1400" dirty="0">
                          <a:effectLst/>
                        </a:rPr>
                        <a:t>迄今 後疫情財政擴張／儲備武器化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en-US" sz="1400" dirty="0">
                          <a:effectLst/>
                        </a:rPr>
                        <a:t>$1,615</a:t>
                      </a:r>
                      <a:r>
                        <a:rPr lang="zh-TW" altLang="en-US" sz="14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→$5,589</a:t>
                      </a:r>
                      <a:r>
                        <a:rPr lang="zh-TW" sz="1400" dirty="0">
                          <a:effectLst/>
                        </a:rPr>
                        <a:t>，</a:t>
                      </a:r>
                      <a:r>
                        <a:rPr lang="en-US" sz="1400" dirty="0">
                          <a:effectLst/>
                        </a:rPr>
                        <a:t>+246%</a:t>
                      </a:r>
                      <a:r>
                        <a:rPr lang="zh-TW" sz="1400" dirty="0">
                          <a:effectLst/>
                        </a:rPr>
                        <a:t>，約</a:t>
                      </a:r>
                      <a:r>
                        <a:rPr lang="en-US" sz="1400" dirty="0">
                          <a:effectLst/>
                        </a:rPr>
                        <a:t>3.3</a:t>
                      </a:r>
                      <a:r>
                        <a:rPr lang="zh-TW" sz="1400" dirty="0">
                          <a:effectLst/>
                        </a:rPr>
                        <a:t>年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後疫情財政與貨幣雙寬鬆、通膨捲土重來、俄烏戰爭與儲備凍結先例、美中地緣競爭、全球債務約</a:t>
                      </a:r>
                      <a:r>
                        <a:rPr lang="en-US" sz="1400" dirty="0">
                          <a:effectLst/>
                        </a:rPr>
                        <a:t>348</a:t>
                      </a:r>
                      <a:r>
                        <a:rPr lang="zh-TW" sz="1400" dirty="0">
                          <a:effectLst/>
                        </a:rPr>
                        <a:t>兆美元、央行結構性購金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尚未出現：需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</a:rPr>
                        <a:t>Fed</a:t>
                      </a: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強力持續推升實質利率至限制性區間（如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</a:rPr>
                        <a:t>1980</a:t>
                      </a: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年），或財政壓力系統性緩解（如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</a:rPr>
                        <a:t>2011</a:t>
                      </a: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年後）</a:t>
                      </a:r>
                      <a:endParaRPr lang="zh-TW" sz="1800" b="1" dirty="0">
                        <a:solidFill>
                          <a:srgbClr val="C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94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76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機構共識比較</a:t>
            </a:r>
            <a:r>
              <a:rPr lang="zh-TW" alt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與結論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058231" y="1527251"/>
            <a:ext cx="2366624" cy="356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機構黃金價格預測比較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322187"/>
              </p:ext>
            </p:extLst>
          </p:nvPr>
        </p:nvGraphicFramePr>
        <p:xfrm>
          <a:off x="345043" y="2136310"/>
          <a:ext cx="5369958" cy="2856105"/>
        </p:xfrm>
        <a:graphic>
          <a:graphicData uri="http://schemas.openxmlformats.org/drawingml/2006/table">
            <a:tbl>
              <a:tblPr/>
              <a:tblGrid>
                <a:gridCol w="234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0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機構（報告）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2026年底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基準情境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2027年底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基準情境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J.P. Morgan Metals Weekly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（10 Jul 2026）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$4,500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（4Q26均值）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（4Q27均值）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UBS Global Precious Metals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Comment（16 Jul 2026）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（維持不變）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BNP</a:t>
                      </a:r>
                      <a:r>
                        <a:rPr lang="zh-TW" altLang="en-US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 </a:t>
                      </a:r>
                      <a:r>
                        <a:rPr lang="en-US" altLang="zh-TW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Paris 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$4,700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$5,330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470600"/>
                  </a:ext>
                </a:extLst>
              </a:tr>
              <a:tr h="563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TW" alt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中金公司研究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$4800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02087" y="1884923"/>
            <a:ext cx="5790895" cy="3330621"/>
          </a:xfrm>
          <a:prstGeom prst="roundRect">
            <a:avLst>
              <a:gd name="adj" fmla="val 3604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1" name="Text 7"/>
          <p:cNvSpPr/>
          <p:nvPr/>
        </p:nvSpPr>
        <p:spPr>
          <a:xfrm>
            <a:off x="6370625" y="1884923"/>
            <a:ext cx="5333695" cy="3330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zh-TW" altLang="en-US" sz="2400" b="1" dirty="0">
                <a:solidFill>
                  <a:schemeClr val="accent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我的觀點</a:t>
            </a:r>
            <a:endParaRPr lang="en-US" altLang="zh-TW" sz="2400" b="1" dirty="0">
              <a:solidFill>
                <a:schemeClr val="accent4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lnSpc>
                <a:spcPct val="118000"/>
              </a:lnSpc>
              <a:buNone/>
            </a:pPr>
            <a:endParaRPr lang="en-US" sz="2400" b="1" dirty="0">
              <a:solidFill>
                <a:schemeClr val="accent4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lnSpc>
                <a:spcPct val="118000"/>
              </a:lnSpc>
              <a:buNone/>
            </a:pPr>
            <a:r>
              <a:rPr lang="zh-TW" alt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因為各國央行長期增加黃金儲備的趨勢、對美國財政的不信任、聯準會升息預期下降，黃金整體有足夠的上漲動能。</a:t>
            </a:r>
            <a:endParaRPr lang="en-US" sz="1600" b="1" dirty="0">
              <a:solidFill>
                <a:schemeClr val="accent4">
                  <a:lumMod val="20000"/>
                  <a:lumOff val="8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 err="1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資料來源：J.P</a:t>
            </a: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 Morgan《Metals Weekly》(10 Jul 2026) p.8；UBS《Global Precious Metals Comment》(16 Jul 2026) p.35-37；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06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Kinsey Colour">
      <a:dk1>
        <a:sysClr val="windowText" lastClr="000000"/>
      </a:dk1>
      <a:lt1>
        <a:sysClr val="window" lastClr="FFFFFF"/>
      </a:lt1>
      <a:dk2>
        <a:srgbClr val="1F3A5F"/>
      </a:dk2>
      <a:lt2>
        <a:srgbClr val="F2F2F2"/>
      </a:lt2>
      <a:accent1>
        <a:srgbClr val="1F3A5F"/>
      </a:accent1>
      <a:accent2>
        <a:srgbClr val="E31937"/>
      </a:accent2>
      <a:accent3>
        <a:srgbClr val="999999"/>
      </a:accent3>
      <a:accent4>
        <a:srgbClr val="FFC72C"/>
      </a:accent4>
      <a:accent5>
        <a:srgbClr val="0070C0"/>
      </a:accent5>
      <a:accent6>
        <a:srgbClr val="00B050"/>
      </a:accent6>
      <a:hlink>
        <a:srgbClr val="0563C1"/>
      </a:hlink>
      <a:folHlink>
        <a:srgbClr val="954F72"/>
      </a:folHlink>
    </a:clrScheme>
    <a:fontScheme name="Century-微軟正黑體">
      <a:majorFont>
        <a:latin typeface="Century"/>
        <a:ea typeface="微軟正黑體"/>
        <a:cs typeface=""/>
      </a:majorFont>
      <a:minorFont>
        <a:latin typeface="Century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2934</Words>
  <Application>Microsoft Office PowerPoint</Application>
  <PresentationFormat>寬螢幕</PresentationFormat>
  <Paragraphs>185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Microsoft JhengHei</vt:lpstr>
      <vt:lpstr>Microsoft JhengHei</vt:lpstr>
      <vt:lpstr>微軟正黑體 Light</vt:lpstr>
      <vt:lpstr>新細明體</vt:lpstr>
      <vt:lpstr>Arial</vt:lpstr>
      <vt:lpstr>Calibri</vt:lpstr>
      <vt:lpstr>Century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陳冠升</cp:lastModifiedBy>
  <cp:revision>54</cp:revision>
  <dcterms:created xsi:type="dcterms:W3CDTF">2026-08-13T08:58:01Z</dcterms:created>
  <dcterms:modified xsi:type="dcterms:W3CDTF">2026-08-14T10:49:47Z</dcterms:modified>
</cp:coreProperties>
</file>